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34122" y="0"/>
            <a:ext cx="17953990" cy="10287000"/>
          </a:xfrm>
          <a:custGeom>
            <a:avLst/>
            <a:gdLst/>
            <a:ahLst/>
            <a:cxnLst/>
            <a:rect l="l" t="t" r="r" b="b"/>
            <a:pathLst>
              <a:path w="17953990" h="10287000">
                <a:moveTo>
                  <a:pt x="17953878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7953878" y="0"/>
                </a:lnTo>
                <a:lnTo>
                  <a:pt x="17953878" y="10287000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80290" y="3460964"/>
            <a:ext cx="7835265" cy="550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0290" y="601973"/>
            <a:ext cx="16327418" cy="1594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26181" y="2318835"/>
            <a:ext cx="7632065" cy="6294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1449" y="0"/>
            <a:ext cx="17957165" cy="10287000"/>
          </a:xfrm>
          <a:custGeom>
            <a:avLst/>
            <a:gdLst/>
            <a:ahLst/>
            <a:cxnLst/>
            <a:rect l="l" t="t" r="r" b="b"/>
            <a:pathLst>
              <a:path w="17957165" h="10287000">
                <a:moveTo>
                  <a:pt x="1795655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7956550" y="0"/>
                </a:lnTo>
                <a:lnTo>
                  <a:pt x="17956550" y="10287000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63105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843481" y="2307423"/>
            <a:ext cx="8686800" cy="17481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50" spc="-90"/>
              <a:t>SMART</a:t>
            </a:r>
            <a:r>
              <a:rPr dirty="0" sz="5550" spc="-290"/>
              <a:t> </a:t>
            </a:r>
            <a:r>
              <a:rPr dirty="0" sz="5550" spc="-459"/>
              <a:t>NAVIGATION</a:t>
            </a:r>
            <a:r>
              <a:rPr dirty="0" sz="5550" spc="40"/>
              <a:t> </a:t>
            </a:r>
            <a:r>
              <a:rPr dirty="0" sz="5550" spc="-90"/>
              <a:t>SYSTEM</a:t>
            </a:r>
            <a:r>
              <a:rPr dirty="0" sz="5550" spc="-125"/>
              <a:t> </a:t>
            </a:r>
            <a:r>
              <a:rPr dirty="0" sz="5550" spc="-1030"/>
              <a:t>—</a:t>
            </a:r>
            <a:endParaRPr sz="5550"/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5550"/>
              <a:t>USing</a:t>
            </a:r>
            <a:r>
              <a:rPr dirty="0" sz="5550" spc="120"/>
              <a:t> </a:t>
            </a:r>
            <a:r>
              <a:rPr dirty="0" sz="5550"/>
              <a:t>DijkStra'S</a:t>
            </a:r>
            <a:r>
              <a:rPr dirty="0" sz="5550" spc="114"/>
              <a:t> </a:t>
            </a:r>
            <a:r>
              <a:rPr dirty="0" sz="5550" spc="-10"/>
              <a:t>Algorithm</a:t>
            </a:r>
            <a:endParaRPr sz="555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5731" y="6340987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5731" y="6855337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43481" y="5368920"/>
            <a:ext cx="9681845" cy="25196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Structures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&amp;</a:t>
            </a:r>
            <a:r>
              <a:rPr dirty="0" sz="27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Algorithms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14">
                <a:solidFill>
                  <a:srgbClr val="CFD0D8"/>
                </a:solidFill>
                <a:latin typeface="Roboto"/>
                <a:cs typeface="Roboto"/>
              </a:rPr>
              <a:t>mini-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project</a:t>
            </a:r>
            <a:endParaRPr sz="2750">
              <a:latin typeface="Roboto"/>
              <a:cs typeface="Roboto"/>
            </a:endParaRPr>
          </a:p>
          <a:p>
            <a:pPr marL="478790" marR="6206490">
              <a:lnSpc>
                <a:spcPct val="132400"/>
              </a:lnSpc>
              <a:spcBef>
                <a:spcPts val="1810"/>
              </a:spcBef>
            </a:pPr>
            <a:r>
              <a:rPr dirty="0" sz="2550" spc="-20">
                <a:solidFill>
                  <a:srgbClr val="CFD0D8"/>
                </a:solidFill>
                <a:latin typeface="Roboto"/>
                <a:cs typeface="Roboto"/>
              </a:rPr>
              <a:t>Dhruva</a:t>
            </a:r>
            <a:r>
              <a:rPr dirty="0" sz="25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Gupta</a:t>
            </a:r>
            <a:r>
              <a:rPr dirty="0" sz="25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[V022]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Nikita</a:t>
            </a:r>
            <a:r>
              <a:rPr dirty="0" sz="25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Sadani</a:t>
            </a:r>
            <a:r>
              <a:rPr dirty="0" sz="25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[V044]</a:t>
            </a:r>
            <a:endParaRPr sz="25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25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Core</a:t>
            </a:r>
            <a:r>
              <a:rPr dirty="0" sz="25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concepts:</a:t>
            </a:r>
            <a:r>
              <a:rPr dirty="0" sz="25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Graphs,</a:t>
            </a:r>
            <a:r>
              <a:rPr dirty="0" sz="25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adjacency</a:t>
            </a:r>
            <a:r>
              <a:rPr dirty="0" sz="25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matrix,</a:t>
            </a:r>
            <a:r>
              <a:rPr dirty="0" sz="25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75">
                <a:solidFill>
                  <a:srgbClr val="CFD0D8"/>
                </a:solidFill>
                <a:latin typeface="Roboto"/>
                <a:cs typeface="Roboto"/>
              </a:rPr>
              <a:t>shortest-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path</a:t>
            </a:r>
            <a:r>
              <a:rPr dirty="0" sz="25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algorithms</a:t>
            </a:r>
            <a:endParaRPr sz="25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548" y="0"/>
            <a:ext cx="17952720" cy="10287000"/>
          </a:xfrm>
          <a:custGeom>
            <a:avLst/>
            <a:gdLst/>
            <a:ahLst/>
            <a:cxnLst/>
            <a:rect l="l" t="t" r="r" b="b"/>
            <a:pathLst>
              <a:path w="17952720" h="10287000">
                <a:moveTo>
                  <a:pt x="17952452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7952452" y="0"/>
                </a:lnTo>
                <a:lnTo>
                  <a:pt x="17952452" y="10287000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54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50"/>
              <a:t>Problem</a:t>
            </a:r>
            <a:r>
              <a:rPr dirty="0" sz="5550" spc="10"/>
              <a:t> </a:t>
            </a:r>
            <a:r>
              <a:rPr dirty="0" sz="5550"/>
              <a:t>Statement</a:t>
            </a:r>
            <a:r>
              <a:rPr dirty="0" sz="5550" spc="195"/>
              <a:t> </a:t>
            </a:r>
            <a:r>
              <a:rPr dirty="0" sz="5550" spc="-1135"/>
              <a:t>&amp;</a:t>
            </a:r>
            <a:r>
              <a:rPr dirty="0" sz="5550" spc="360"/>
              <a:t> </a:t>
            </a:r>
            <a:r>
              <a:rPr dirty="0" sz="5550" spc="-30"/>
              <a:t>Objective</a:t>
            </a:r>
            <a:endParaRPr sz="55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6587" y="2976657"/>
            <a:ext cx="7811795" cy="44244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0290" y="3428819"/>
            <a:ext cx="15820390" cy="5464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solidFill>
                  <a:srgbClr val="FFFFFF"/>
                </a:solidFill>
                <a:latin typeface="Roboto"/>
                <a:cs typeface="Roboto"/>
              </a:rPr>
              <a:t>Problem</a:t>
            </a:r>
            <a:r>
              <a:rPr dirty="0" sz="275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Roboto"/>
                <a:cs typeface="Roboto"/>
              </a:rPr>
              <a:t>Statement</a:t>
            </a:r>
            <a:endParaRPr sz="2750">
              <a:latin typeface="Roboto"/>
              <a:cs typeface="Roboto"/>
            </a:endParaRPr>
          </a:p>
          <a:p>
            <a:pPr marL="12700" marR="8093709">
              <a:lnSpc>
                <a:spcPct val="132700"/>
              </a:lnSpc>
              <a:spcBef>
                <a:spcPts val="1490"/>
              </a:spcBef>
            </a:pP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Road</a:t>
            </a:r>
            <a:r>
              <a:rPr dirty="0" sz="24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networks</a:t>
            </a:r>
            <a:r>
              <a:rPr dirty="0" sz="24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contain</a:t>
            </a:r>
            <a:r>
              <a:rPr dirty="0" sz="24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many</a:t>
            </a:r>
            <a:r>
              <a:rPr dirty="0" sz="24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possible</a:t>
            </a:r>
            <a:r>
              <a:rPr dirty="0" sz="24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routes</a:t>
            </a:r>
            <a:r>
              <a:rPr dirty="0" sz="24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between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two</a:t>
            </a:r>
            <a:r>
              <a:rPr dirty="0" sz="24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locations.</a:t>
            </a:r>
            <a:r>
              <a:rPr dirty="0" sz="24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As</a:t>
            </a:r>
            <a:r>
              <a:rPr dirty="0" sz="24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4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network</a:t>
            </a:r>
            <a:r>
              <a:rPr dirty="0" sz="24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grows,</a:t>
            </a:r>
            <a:r>
              <a:rPr dirty="0" sz="24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finding</a:t>
            </a:r>
            <a:r>
              <a:rPr dirty="0" sz="24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4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20">
                <a:solidFill>
                  <a:srgbClr val="CFD0D8"/>
                </a:solidFill>
                <a:latin typeface="Roboto"/>
                <a:cs typeface="Roboto"/>
              </a:rPr>
              <a:t>true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shortest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manually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infeasible.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system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must:</a:t>
            </a:r>
            <a:endParaRPr sz="2450">
              <a:latin typeface="Roboto"/>
              <a:cs typeface="Roboto"/>
            </a:endParaRPr>
          </a:p>
          <a:p>
            <a:pPr marL="12700" marR="8291195">
              <a:lnSpc>
                <a:spcPts val="3900"/>
              </a:lnSpc>
              <a:spcBef>
                <a:spcPts val="290"/>
              </a:spcBef>
            </a:pP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accept</a:t>
            </a:r>
            <a:r>
              <a:rPr dirty="0" sz="24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source</a:t>
            </a:r>
            <a:r>
              <a:rPr dirty="0" sz="24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4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destination,</a:t>
            </a:r>
            <a:r>
              <a:rPr dirty="0" sz="24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represent</a:t>
            </a:r>
            <a:r>
              <a:rPr dirty="0" sz="24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4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network,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compute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shortest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total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distance,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display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4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r>
              <a:rPr dirty="0" sz="24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clearly,</a:t>
            </a:r>
            <a:r>
              <a:rPr dirty="0" sz="24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4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handle</a:t>
            </a:r>
            <a:r>
              <a:rPr dirty="0" sz="24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invalid</a:t>
            </a:r>
            <a:r>
              <a:rPr dirty="0" sz="24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inputs</a:t>
            </a:r>
            <a:r>
              <a:rPr dirty="0" sz="24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4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20">
                <a:solidFill>
                  <a:srgbClr val="CFD0D8"/>
                </a:solidFill>
                <a:latin typeface="Roboto"/>
                <a:cs typeface="Roboto"/>
              </a:rPr>
              <a:t>edge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cases.</a:t>
            </a:r>
            <a:endParaRPr sz="2450">
              <a:latin typeface="Roboto"/>
              <a:cs typeface="Roboto"/>
            </a:endParaRPr>
          </a:p>
          <a:p>
            <a:pPr marL="12700" marR="5080">
              <a:lnSpc>
                <a:spcPct val="132700"/>
              </a:lnSpc>
              <a:spcBef>
                <a:spcPts val="2615"/>
              </a:spcBef>
            </a:pPr>
            <a:r>
              <a:rPr dirty="0" sz="2450" b="1">
                <a:solidFill>
                  <a:srgbClr val="CFD0D8"/>
                </a:solidFill>
                <a:latin typeface="Roboto"/>
                <a:cs typeface="Roboto"/>
              </a:rPr>
              <a:t>Objective:</a:t>
            </a:r>
            <a:r>
              <a:rPr dirty="0" sz="2450" spc="-65" b="1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Build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simple,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0">
                <a:solidFill>
                  <a:srgbClr val="CFD0D8"/>
                </a:solidFill>
                <a:latin typeface="Roboto"/>
                <a:cs typeface="Roboto"/>
              </a:rPr>
              <a:t>menu-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driven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navigation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system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computes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shortest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paths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using</a:t>
            </a:r>
            <a:r>
              <a:rPr dirty="0" sz="24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25">
                <a:solidFill>
                  <a:srgbClr val="CFD0D8"/>
                </a:solidFill>
                <a:latin typeface="Roboto"/>
                <a:cs typeface="Roboto"/>
              </a:rPr>
              <a:t>Dijkstra's</a:t>
            </a:r>
            <a:r>
              <a:rPr dirty="0" sz="24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Algorithm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4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presents</a:t>
            </a:r>
            <a:r>
              <a:rPr dirty="0" sz="24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r>
              <a:rPr dirty="0" sz="24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dirty="0" sz="24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distance</a:t>
            </a:r>
            <a:r>
              <a:rPr dirty="0" sz="24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4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4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50" spc="-10">
                <a:solidFill>
                  <a:srgbClr val="CFD0D8"/>
                </a:solidFill>
                <a:latin typeface="Roboto"/>
                <a:cs typeface="Roboto"/>
              </a:rPr>
              <a:t>user.</a:t>
            </a:r>
            <a:endParaRPr sz="24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548" y="0"/>
            <a:ext cx="17952720" cy="10287000"/>
          </a:xfrm>
          <a:custGeom>
            <a:avLst/>
            <a:gdLst/>
            <a:ahLst/>
            <a:cxnLst/>
            <a:rect l="l" t="t" r="r" b="b"/>
            <a:pathLst>
              <a:path w="17952720" h="10287000">
                <a:moveTo>
                  <a:pt x="17952452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7952452" y="0"/>
                </a:lnTo>
                <a:lnTo>
                  <a:pt x="17952452" y="10287000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980290" y="1046019"/>
            <a:ext cx="9357995" cy="8489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Proposed</a:t>
            </a:r>
            <a:r>
              <a:rPr dirty="0" sz="5400" spc="-409"/>
              <a:t> </a:t>
            </a:r>
            <a:r>
              <a:rPr dirty="0" sz="5400"/>
              <a:t>Solution</a:t>
            </a:r>
            <a:r>
              <a:rPr dirty="0" sz="5400" spc="-245"/>
              <a:t> </a:t>
            </a:r>
            <a:r>
              <a:rPr dirty="0" sz="5400" spc="-955"/>
              <a:t>—</a:t>
            </a:r>
            <a:r>
              <a:rPr dirty="0" sz="5400" spc="100"/>
              <a:t> </a:t>
            </a:r>
            <a:r>
              <a:rPr dirty="0" sz="5400" spc="-45"/>
              <a:t>High</a:t>
            </a:r>
            <a:r>
              <a:rPr dirty="0" sz="5400" spc="-185"/>
              <a:t> </a:t>
            </a:r>
            <a:r>
              <a:rPr dirty="0" sz="5400" spc="-70"/>
              <a:t>Level</a:t>
            </a:r>
            <a:endParaRPr sz="5400"/>
          </a:p>
        </p:txBody>
      </p:sp>
      <p:grpSp>
        <p:nvGrpSpPr>
          <p:cNvPr id="6" name="object 6"/>
          <p:cNvGrpSpPr/>
          <p:nvPr/>
        </p:nvGrpSpPr>
        <p:grpSpPr>
          <a:xfrm>
            <a:off x="978686" y="3169083"/>
            <a:ext cx="3000375" cy="3781425"/>
            <a:chOff x="978686" y="3169083"/>
            <a:chExt cx="3000375" cy="3781425"/>
          </a:xfrm>
        </p:grpSpPr>
        <p:sp>
          <p:nvSpPr>
            <p:cNvPr id="7" name="object 7"/>
            <p:cNvSpPr/>
            <p:nvPr/>
          </p:nvSpPr>
          <p:spPr>
            <a:xfrm>
              <a:off x="988218" y="3178625"/>
              <a:ext cx="2983230" cy="3762375"/>
            </a:xfrm>
            <a:custGeom>
              <a:avLst/>
              <a:gdLst/>
              <a:ahLst/>
              <a:cxnLst/>
              <a:rect l="l" t="t" r="r" b="b"/>
              <a:pathLst>
                <a:path w="2983229" h="3762375">
                  <a:moveTo>
                    <a:pt x="2882786" y="3761977"/>
                  </a:moveTo>
                  <a:lnTo>
                    <a:pt x="100157" y="3761977"/>
                  </a:lnTo>
                  <a:lnTo>
                    <a:pt x="70723" y="3756040"/>
                  </a:lnTo>
                  <a:lnTo>
                    <a:pt x="33909" y="3731228"/>
                  </a:lnTo>
                  <a:lnTo>
                    <a:pt x="9096" y="3694413"/>
                  </a:lnTo>
                  <a:lnTo>
                    <a:pt x="0" y="3649312"/>
                  </a:lnTo>
                  <a:lnTo>
                    <a:pt x="0" y="115824"/>
                  </a:lnTo>
                  <a:lnTo>
                    <a:pt x="9096" y="70723"/>
                  </a:lnTo>
                  <a:lnTo>
                    <a:pt x="33909" y="33909"/>
                  </a:lnTo>
                  <a:lnTo>
                    <a:pt x="70723" y="9096"/>
                  </a:lnTo>
                  <a:lnTo>
                    <a:pt x="115824" y="0"/>
                  </a:lnTo>
                  <a:lnTo>
                    <a:pt x="2867120" y="0"/>
                  </a:lnTo>
                  <a:lnTo>
                    <a:pt x="2912220" y="9096"/>
                  </a:lnTo>
                  <a:lnTo>
                    <a:pt x="2949035" y="33909"/>
                  </a:lnTo>
                  <a:lnTo>
                    <a:pt x="2973847" y="70723"/>
                  </a:lnTo>
                  <a:lnTo>
                    <a:pt x="2982981" y="115824"/>
                  </a:lnTo>
                  <a:lnTo>
                    <a:pt x="2982981" y="3649312"/>
                  </a:lnTo>
                  <a:lnTo>
                    <a:pt x="2973847" y="3694413"/>
                  </a:lnTo>
                  <a:lnTo>
                    <a:pt x="2949035" y="3731228"/>
                  </a:lnTo>
                  <a:lnTo>
                    <a:pt x="2912220" y="3756040"/>
                  </a:lnTo>
                  <a:lnTo>
                    <a:pt x="2882786" y="3761977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88218" y="3178616"/>
              <a:ext cx="2981325" cy="3762375"/>
            </a:xfrm>
            <a:custGeom>
              <a:avLst/>
              <a:gdLst/>
              <a:ahLst/>
              <a:cxnLst/>
              <a:rect l="l" t="t" r="r" b="b"/>
              <a:pathLst>
                <a:path w="2981325" h="3762375">
                  <a:moveTo>
                    <a:pt x="2981268" y="3657339"/>
                  </a:moveTo>
                  <a:lnTo>
                    <a:pt x="2973881" y="3694373"/>
                  </a:lnTo>
                  <a:lnTo>
                    <a:pt x="2949049" y="3731227"/>
                  </a:lnTo>
                  <a:lnTo>
                    <a:pt x="2912236" y="3756039"/>
                  </a:lnTo>
                  <a:lnTo>
                    <a:pt x="2880792" y="3762266"/>
                  </a:lnTo>
                </a:path>
                <a:path w="2981325" h="3762375">
                  <a:moveTo>
                    <a:pt x="102143" y="3762305"/>
                  </a:moveTo>
                  <a:lnTo>
                    <a:pt x="70693" y="3756030"/>
                  </a:lnTo>
                  <a:lnTo>
                    <a:pt x="33867" y="3731176"/>
                  </a:lnTo>
                  <a:lnTo>
                    <a:pt x="9056" y="3694363"/>
                  </a:lnTo>
                  <a:lnTo>
                    <a:pt x="0" y="3649214"/>
                  </a:lnTo>
                  <a:lnTo>
                    <a:pt x="1" y="115823"/>
                  </a:lnTo>
                  <a:lnTo>
                    <a:pt x="9107" y="70715"/>
                  </a:lnTo>
                  <a:lnTo>
                    <a:pt x="33932" y="33903"/>
                  </a:lnTo>
                  <a:lnTo>
                    <a:pt x="70753" y="9100"/>
                  </a:lnTo>
                  <a:lnTo>
                    <a:pt x="115854" y="9"/>
                  </a:lnTo>
                  <a:lnTo>
                    <a:pt x="2867071" y="0"/>
                  </a:lnTo>
                  <a:lnTo>
                    <a:pt x="2912184" y="9081"/>
                  </a:lnTo>
                  <a:lnTo>
                    <a:pt x="2949017" y="33893"/>
                  </a:lnTo>
                  <a:lnTo>
                    <a:pt x="2973845" y="70720"/>
                  </a:lnTo>
                  <a:lnTo>
                    <a:pt x="2981282" y="107813"/>
                  </a:lnTo>
                </a:path>
              </a:pathLst>
            </a:custGeom>
            <a:ln w="1906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264611" y="3216830"/>
            <a:ext cx="2269490" cy="291401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2900" spc="-10">
                <a:solidFill>
                  <a:srgbClr val="CFD0D8"/>
                </a:solidFill>
                <a:latin typeface="Roboto"/>
                <a:cs typeface="Roboto"/>
              </a:rPr>
              <a:t>Model</a:t>
            </a:r>
            <a:endParaRPr sz="2900">
              <a:latin typeface="Roboto"/>
              <a:cs typeface="Roboto"/>
            </a:endParaRPr>
          </a:p>
          <a:p>
            <a:pPr marL="12700" marR="5080">
              <a:lnSpc>
                <a:spcPct val="130700"/>
              </a:lnSpc>
              <a:spcBef>
                <a:spcPts val="405"/>
              </a:spcBef>
            </a:pP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Weighted</a:t>
            </a:r>
            <a:r>
              <a:rPr dirty="0" sz="2200" spc="-1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graph: vertices</a:t>
            </a:r>
            <a:r>
              <a:rPr dirty="0" sz="220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50">
                <a:solidFill>
                  <a:srgbClr val="CFD0D8"/>
                </a:solidFill>
                <a:latin typeface="Roboto"/>
                <a:cs typeface="Roboto"/>
              </a:rPr>
              <a:t>=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locations,</a:t>
            </a:r>
            <a:r>
              <a:rPr dirty="0" sz="22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edges</a:t>
            </a:r>
            <a:r>
              <a:rPr dirty="0" sz="22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50">
                <a:solidFill>
                  <a:srgbClr val="CFD0D8"/>
                </a:solidFill>
                <a:latin typeface="Roboto"/>
                <a:cs typeface="Roboto"/>
              </a:rPr>
              <a:t>=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roads,</a:t>
            </a:r>
            <a:r>
              <a:rPr dirty="0" sz="220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weights</a:t>
            </a:r>
            <a:r>
              <a:rPr dirty="0" sz="220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50">
                <a:solidFill>
                  <a:srgbClr val="CFD0D8"/>
                </a:solidFill>
                <a:latin typeface="Roboto"/>
                <a:cs typeface="Roboto"/>
              </a:rPr>
              <a:t>=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distance</a:t>
            </a:r>
            <a:r>
              <a:rPr dirty="0" sz="22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(km)</a:t>
            </a:r>
            <a:endParaRPr sz="22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18300" y="3169083"/>
            <a:ext cx="3000375" cy="3781425"/>
            <a:chOff x="4218300" y="3169083"/>
            <a:chExt cx="3000375" cy="3781425"/>
          </a:xfrm>
        </p:grpSpPr>
        <p:sp>
          <p:nvSpPr>
            <p:cNvPr id="10" name="object 10"/>
            <p:cNvSpPr/>
            <p:nvPr/>
          </p:nvSpPr>
          <p:spPr>
            <a:xfrm>
              <a:off x="4227832" y="3178625"/>
              <a:ext cx="2983230" cy="3762375"/>
            </a:xfrm>
            <a:custGeom>
              <a:avLst/>
              <a:gdLst/>
              <a:ahLst/>
              <a:cxnLst/>
              <a:rect l="l" t="t" r="r" b="b"/>
              <a:pathLst>
                <a:path w="2983229" h="3762375">
                  <a:moveTo>
                    <a:pt x="2882787" y="3761977"/>
                  </a:moveTo>
                  <a:lnTo>
                    <a:pt x="100157" y="3761977"/>
                  </a:lnTo>
                  <a:lnTo>
                    <a:pt x="70723" y="3756040"/>
                  </a:lnTo>
                  <a:lnTo>
                    <a:pt x="33909" y="3731228"/>
                  </a:lnTo>
                  <a:lnTo>
                    <a:pt x="9096" y="3694413"/>
                  </a:lnTo>
                  <a:lnTo>
                    <a:pt x="0" y="3649312"/>
                  </a:lnTo>
                  <a:lnTo>
                    <a:pt x="0" y="115824"/>
                  </a:lnTo>
                  <a:lnTo>
                    <a:pt x="9096" y="70723"/>
                  </a:lnTo>
                  <a:lnTo>
                    <a:pt x="33909" y="33909"/>
                  </a:lnTo>
                  <a:lnTo>
                    <a:pt x="70723" y="9096"/>
                  </a:lnTo>
                  <a:lnTo>
                    <a:pt x="115824" y="0"/>
                  </a:lnTo>
                  <a:lnTo>
                    <a:pt x="2867120" y="0"/>
                  </a:lnTo>
                  <a:lnTo>
                    <a:pt x="2912221" y="9096"/>
                  </a:lnTo>
                  <a:lnTo>
                    <a:pt x="2949035" y="33909"/>
                  </a:lnTo>
                  <a:lnTo>
                    <a:pt x="2973847" y="70723"/>
                  </a:lnTo>
                  <a:lnTo>
                    <a:pt x="2982981" y="115824"/>
                  </a:lnTo>
                  <a:lnTo>
                    <a:pt x="2982981" y="3649312"/>
                  </a:lnTo>
                  <a:lnTo>
                    <a:pt x="2973847" y="3694413"/>
                  </a:lnTo>
                  <a:lnTo>
                    <a:pt x="2949035" y="3731228"/>
                  </a:lnTo>
                  <a:lnTo>
                    <a:pt x="2912221" y="3756040"/>
                  </a:lnTo>
                  <a:lnTo>
                    <a:pt x="2882787" y="3761977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227833" y="3178615"/>
              <a:ext cx="2981325" cy="3762375"/>
            </a:xfrm>
            <a:custGeom>
              <a:avLst/>
              <a:gdLst/>
              <a:ahLst/>
              <a:cxnLst/>
              <a:rect l="l" t="t" r="r" b="b"/>
              <a:pathLst>
                <a:path w="2981325" h="3762375">
                  <a:moveTo>
                    <a:pt x="2981268" y="3657339"/>
                  </a:moveTo>
                  <a:lnTo>
                    <a:pt x="2973881" y="3694373"/>
                  </a:lnTo>
                  <a:lnTo>
                    <a:pt x="2949049" y="3731228"/>
                  </a:lnTo>
                  <a:lnTo>
                    <a:pt x="2912236" y="3756040"/>
                  </a:lnTo>
                  <a:lnTo>
                    <a:pt x="2880792" y="3762266"/>
                  </a:lnTo>
                </a:path>
                <a:path w="2981325" h="3762375">
                  <a:moveTo>
                    <a:pt x="102143" y="3762305"/>
                  </a:moveTo>
                  <a:lnTo>
                    <a:pt x="70693" y="3756030"/>
                  </a:lnTo>
                  <a:lnTo>
                    <a:pt x="33867" y="3731176"/>
                  </a:lnTo>
                  <a:lnTo>
                    <a:pt x="9056" y="3694363"/>
                  </a:lnTo>
                  <a:lnTo>
                    <a:pt x="0" y="3649214"/>
                  </a:lnTo>
                  <a:lnTo>
                    <a:pt x="1" y="115823"/>
                  </a:lnTo>
                  <a:lnTo>
                    <a:pt x="9107" y="70715"/>
                  </a:lnTo>
                  <a:lnTo>
                    <a:pt x="33932" y="33903"/>
                  </a:lnTo>
                  <a:lnTo>
                    <a:pt x="70753" y="9100"/>
                  </a:lnTo>
                  <a:lnTo>
                    <a:pt x="115854" y="9"/>
                  </a:lnTo>
                  <a:lnTo>
                    <a:pt x="2867071" y="0"/>
                  </a:lnTo>
                  <a:lnTo>
                    <a:pt x="2912184" y="9081"/>
                  </a:lnTo>
                  <a:lnTo>
                    <a:pt x="2949018" y="33893"/>
                  </a:lnTo>
                  <a:lnTo>
                    <a:pt x="2973845" y="70720"/>
                  </a:lnTo>
                  <a:lnTo>
                    <a:pt x="2981282" y="107814"/>
                  </a:lnTo>
                </a:path>
              </a:pathLst>
            </a:custGeom>
            <a:ln w="1906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504225" y="3216830"/>
            <a:ext cx="2225040" cy="291401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2900" spc="-10">
                <a:solidFill>
                  <a:srgbClr val="CFD0D8"/>
                </a:solidFill>
                <a:latin typeface="Roboto"/>
                <a:cs typeface="Roboto"/>
              </a:rPr>
              <a:t>Storage</a:t>
            </a:r>
            <a:endParaRPr sz="2900">
              <a:latin typeface="Roboto"/>
              <a:cs typeface="Roboto"/>
            </a:endParaRPr>
          </a:p>
          <a:p>
            <a:pPr marL="12700" marR="5080">
              <a:lnSpc>
                <a:spcPct val="130700"/>
              </a:lnSpc>
              <a:spcBef>
                <a:spcPts val="405"/>
              </a:spcBef>
            </a:pP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Adjacency</a:t>
            </a:r>
            <a:r>
              <a:rPr dirty="0" sz="2200" spc="-1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matrix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(int</a:t>
            </a:r>
            <a:r>
              <a:rPr dirty="0" sz="22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g[N][N])</a:t>
            </a:r>
            <a:r>
              <a:rPr dirty="0" sz="22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35">
                <a:solidFill>
                  <a:srgbClr val="CFD0D8"/>
                </a:solidFill>
                <a:latin typeface="Roboto"/>
                <a:cs typeface="Roboto"/>
              </a:rPr>
              <a:t>to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store</a:t>
            </a:r>
            <a:r>
              <a:rPr dirty="0" sz="22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95">
                <a:solidFill>
                  <a:srgbClr val="CFD0D8"/>
                </a:solidFill>
                <a:latin typeface="Roboto"/>
                <a:cs typeface="Roboto"/>
              </a:rPr>
              <a:t>inter-</a:t>
            </a: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node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distances</a:t>
            </a:r>
            <a:r>
              <a:rPr dirty="0" sz="220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absence</a:t>
            </a:r>
            <a:r>
              <a:rPr dirty="0" sz="22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2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edges</a:t>
            </a:r>
            <a:endParaRPr sz="22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57915" y="3169083"/>
            <a:ext cx="3000375" cy="3781425"/>
            <a:chOff x="7457915" y="3169083"/>
            <a:chExt cx="3000375" cy="3781425"/>
          </a:xfrm>
        </p:grpSpPr>
        <p:sp>
          <p:nvSpPr>
            <p:cNvPr id="13" name="object 13"/>
            <p:cNvSpPr/>
            <p:nvPr/>
          </p:nvSpPr>
          <p:spPr>
            <a:xfrm>
              <a:off x="7467446" y="3178625"/>
              <a:ext cx="2983230" cy="3762375"/>
            </a:xfrm>
            <a:custGeom>
              <a:avLst/>
              <a:gdLst/>
              <a:ahLst/>
              <a:cxnLst/>
              <a:rect l="l" t="t" r="r" b="b"/>
              <a:pathLst>
                <a:path w="2983229" h="3762375">
                  <a:moveTo>
                    <a:pt x="2882787" y="3761977"/>
                  </a:moveTo>
                  <a:lnTo>
                    <a:pt x="100157" y="3761977"/>
                  </a:lnTo>
                  <a:lnTo>
                    <a:pt x="70723" y="3756040"/>
                  </a:lnTo>
                  <a:lnTo>
                    <a:pt x="33909" y="3731228"/>
                  </a:lnTo>
                  <a:lnTo>
                    <a:pt x="9096" y="3694413"/>
                  </a:lnTo>
                  <a:lnTo>
                    <a:pt x="0" y="3649312"/>
                  </a:lnTo>
                  <a:lnTo>
                    <a:pt x="0" y="115824"/>
                  </a:lnTo>
                  <a:lnTo>
                    <a:pt x="9096" y="70723"/>
                  </a:lnTo>
                  <a:lnTo>
                    <a:pt x="33909" y="33909"/>
                  </a:lnTo>
                  <a:lnTo>
                    <a:pt x="70723" y="9096"/>
                  </a:lnTo>
                  <a:lnTo>
                    <a:pt x="115824" y="0"/>
                  </a:lnTo>
                  <a:lnTo>
                    <a:pt x="2867120" y="0"/>
                  </a:lnTo>
                  <a:lnTo>
                    <a:pt x="2912221" y="9096"/>
                  </a:lnTo>
                  <a:lnTo>
                    <a:pt x="2949035" y="33909"/>
                  </a:lnTo>
                  <a:lnTo>
                    <a:pt x="2973847" y="70723"/>
                  </a:lnTo>
                  <a:lnTo>
                    <a:pt x="2982981" y="115824"/>
                  </a:lnTo>
                  <a:lnTo>
                    <a:pt x="2982981" y="3649312"/>
                  </a:lnTo>
                  <a:lnTo>
                    <a:pt x="2973847" y="3694413"/>
                  </a:lnTo>
                  <a:lnTo>
                    <a:pt x="2949035" y="3731228"/>
                  </a:lnTo>
                  <a:lnTo>
                    <a:pt x="2912221" y="3756040"/>
                  </a:lnTo>
                  <a:lnTo>
                    <a:pt x="2882787" y="3761977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467447" y="3178616"/>
              <a:ext cx="2981325" cy="3762375"/>
            </a:xfrm>
            <a:custGeom>
              <a:avLst/>
              <a:gdLst/>
              <a:ahLst/>
              <a:cxnLst/>
              <a:rect l="l" t="t" r="r" b="b"/>
              <a:pathLst>
                <a:path w="2981325" h="3762375">
                  <a:moveTo>
                    <a:pt x="2981268" y="3657338"/>
                  </a:moveTo>
                  <a:lnTo>
                    <a:pt x="2973881" y="3694373"/>
                  </a:lnTo>
                  <a:lnTo>
                    <a:pt x="2949049" y="3731227"/>
                  </a:lnTo>
                  <a:lnTo>
                    <a:pt x="2912236" y="3756039"/>
                  </a:lnTo>
                  <a:lnTo>
                    <a:pt x="2880792" y="3762266"/>
                  </a:lnTo>
                </a:path>
                <a:path w="2981325" h="3762375">
                  <a:moveTo>
                    <a:pt x="102143" y="3762305"/>
                  </a:moveTo>
                  <a:lnTo>
                    <a:pt x="70693" y="3756030"/>
                  </a:lnTo>
                  <a:lnTo>
                    <a:pt x="33867" y="3731176"/>
                  </a:lnTo>
                  <a:lnTo>
                    <a:pt x="9056" y="3694363"/>
                  </a:lnTo>
                  <a:lnTo>
                    <a:pt x="0" y="3649214"/>
                  </a:lnTo>
                  <a:lnTo>
                    <a:pt x="1" y="115823"/>
                  </a:lnTo>
                  <a:lnTo>
                    <a:pt x="9107" y="70715"/>
                  </a:lnTo>
                  <a:lnTo>
                    <a:pt x="33932" y="33903"/>
                  </a:lnTo>
                  <a:lnTo>
                    <a:pt x="70753" y="9100"/>
                  </a:lnTo>
                  <a:lnTo>
                    <a:pt x="115854" y="9"/>
                  </a:lnTo>
                  <a:lnTo>
                    <a:pt x="2867070" y="0"/>
                  </a:lnTo>
                  <a:lnTo>
                    <a:pt x="2912184" y="9081"/>
                  </a:lnTo>
                  <a:lnTo>
                    <a:pt x="2949017" y="33893"/>
                  </a:lnTo>
                  <a:lnTo>
                    <a:pt x="2973844" y="70720"/>
                  </a:lnTo>
                  <a:lnTo>
                    <a:pt x="2981282" y="107814"/>
                  </a:lnTo>
                </a:path>
              </a:pathLst>
            </a:custGeom>
            <a:ln w="1906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724617" y="3420561"/>
            <a:ext cx="2172970" cy="34372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solidFill>
                  <a:srgbClr val="CFD0D8"/>
                </a:solidFill>
                <a:latin typeface="Roboto"/>
                <a:cs typeface="Roboto"/>
              </a:rPr>
              <a:t>Algorithm</a:t>
            </a:r>
            <a:endParaRPr sz="2900">
              <a:latin typeface="Roboto"/>
              <a:cs typeface="Roboto"/>
            </a:endParaRPr>
          </a:p>
          <a:p>
            <a:pPr marL="28575">
              <a:lnSpc>
                <a:spcPct val="100000"/>
              </a:lnSpc>
              <a:spcBef>
                <a:spcPts val="40"/>
              </a:spcBef>
            </a:pP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Dijkstra's</a:t>
            </a:r>
            <a:endParaRPr sz="2200">
              <a:latin typeface="Roboto"/>
              <a:cs typeface="Roboto"/>
            </a:endParaRPr>
          </a:p>
          <a:p>
            <a:pPr marL="28575" marR="5080">
              <a:lnSpc>
                <a:spcPct val="130700"/>
              </a:lnSpc>
            </a:pP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Algorithm</a:t>
            </a:r>
            <a:r>
              <a:rPr dirty="0" sz="22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finds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minimum </a:t>
            </a:r>
            <a:r>
              <a:rPr dirty="0" sz="2200" spc="-25">
                <a:solidFill>
                  <a:srgbClr val="CFD0D8"/>
                </a:solidFill>
                <a:latin typeface="Roboto"/>
                <a:cs typeface="Roboto"/>
              </a:rPr>
              <a:t>distances;</a:t>
            </a:r>
            <a:r>
              <a:rPr dirty="0" sz="22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parent </a:t>
            </a:r>
            <a:r>
              <a:rPr dirty="0" sz="2200" spc="-25">
                <a:solidFill>
                  <a:srgbClr val="CFD0D8"/>
                </a:solidFill>
                <a:latin typeface="Roboto"/>
                <a:cs typeface="Roboto"/>
              </a:rPr>
              <a:t>array</a:t>
            </a:r>
            <a:r>
              <a:rPr dirty="0" sz="22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used</a:t>
            </a:r>
            <a:r>
              <a:rPr dirty="0" sz="22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25">
                <a:solidFill>
                  <a:srgbClr val="CFD0D8"/>
                </a:solidFill>
                <a:latin typeface="Roboto"/>
                <a:cs typeface="Roboto"/>
              </a:rPr>
              <a:t>to </a:t>
            </a: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reconstruct</a:t>
            </a:r>
            <a:r>
              <a:rPr dirty="0" sz="220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25">
                <a:solidFill>
                  <a:srgbClr val="CFD0D8"/>
                </a:solidFill>
                <a:latin typeface="Roboto"/>
                <a:cs typeface="Roboto"/>
              </a:rPr>
              <a:t>the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endParaRPr sz="220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8918" y="7190891"/>
            <a:ext cx="9477375" cy="2048510"/>
            <a:chOff x="978918" y="7190891"/>
            <a:chExt cx="9477375" cy="2048510"/>
          </a:xfrm>
        </p:grpSpPr>
        <p:sp>
          <p:nvSpPr>
            <p:cNvPr id="16" name="object 16"/>
            <p:cNvSpPr/>
            <p:nvPr/>
          </p:nvSpPr>
          <p:spPr>
            <a:xfrm>
              <a:off x="988218" y="7200423"/>
              <a:ext cx="9459595" cy="2033270"/>
            </a:xfrm>
            <a:custGeom>
              <a:avLst/>
              <a:gdLst/>
              <a:ahLst/>
              <a:cxnLst/>
              <a:rect l="l" t="t" r="r" b="b"/>
              <a:pathLst>
                <a:path w="9459595" h="2033270">
                  <a:moveTo>
                    <a:pt x="9346216" y="2033244"/>
                  </a:moveTo>
                  <a:lnTo>
                    <a:pt x="116014" y="2033244"/>
                  </a:lnTo>
                  <a:lnTo>
                    <a:pt x="71107" y="2024189"/>
                  </a:lnTo>
                  <a:lnTo>
                    <a:pt x="70923" y="2024189"/>
                  </a:lnTo>
                  <a:lnTo>
                    <a:pt x="34074" y="1999333"/>
                  </a:lnTo>
                  <a:lnTo>
                    <a:pt x="9148" y="1962458"/>
                  </a:lnTo>
                  <a:lnTo>
                    <a:pt x="0" y="1917287"/>
                  </a:lnTo>
                  <a:lnTo>
                    <a:pt x="0" y="116014"/>
                  </a:lnTo>
                  <a:lnTo>
                    <a:pt x="9112" y="70843"/>
                  </a:lnTo>
                  <a:lnTo>
                    <a:pt x="33968" y="33968"/>
                  </a:lnTo>
                  <a:lnTo>
                    <a:pt x="70843" y="9113"/>
                  </a:lnTo>
                  <a:lnTo>
                    <a:pt x="116014" y="0"/>
                  </a:lnTo>
                  <a:lnTo>
                    <a:pt x="9346216" y="0"/>
                  </a:lnTo>
                  <a:lnTo>
                    <a:pt x="9391386" y="9113"/>
                  </a:lnTo>
                  <a:lnTo>
                    <a:pt x="9428262" y="33968"/>
                  </a:lnTo>
                  <a:lnTo>
                    <a:pt x="9453117" y="70843"/>
                  </a:lnTo>
                  <a:lnTo>
                    <a:pt x="9459352" y="101750"/>
                  </a:lnTo>
                  <a:lnTo>
                    <a:pt x="9459352" y="1931552"/>
                  </a:lnTo>
                  <a:lnTo>
                    <a:pt x="9453117" y="1962458"/>
                  </a:lnTo>
                  <a:lnTo>
                    <a:pt x="9428262" y="1999333"/>
                  </a:lnTo>
                  <a:lnTo>
                    <a:pt x="9391386" y="2024189"/>
                  </a:lnTo>
                  <a:lnTo>
                    <a:pt x="9346216" y="203324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88451" y="7200423"/>
              <a:ext cx="9458325" cy="2029460"/>
            </a:xfrm>
            <a:custGeom>
              <a:avLst/>
              <a:gdLst/>
              <a:ahLst/>
              <a:cxnLst/>
              <a:rect l="l" t="t" r="r" b="b"/>
              <a:pathLst>
                <a:path w="9458325" h="2029459">
                  <a:moveTo>
                    <a:pt x="9458092" y="1935311"/>
                  </a:moveTo>
                  <a:lnTo>
                    <a:pt x="9452635" y="1962358"/>
                  </a:lnTo>
                  <a:lnTo>
                    <a:pt x="9427781" y="1999231"/>
                  </a:lnTo>
                  <a:lnTo>
                    <a:pt x="9390908" y="2024086"/>
                  </a:lnTo>
                  <a:lnTo>
                    <a:pt x="9367417" y="2028824"/>
                  </a:lnTo>
                </a:path>
                <a:path w="9458325" h="2029459">
                  <a:moveTo>
                    <a:pt x="94452" y="2028849"/>
                  </a:moveTo>
                  <a:lnTo>
                    <a:pt x="34006" y="1999133"/>
                  </a:lnTo>
                  <a:lnTo>
                    <a:pt x="9136" y="1962299"/>
                  </a:lnTo>
                  <a:lnTo>
                    <a:pt x="0" y="1917189"/>
                  </a:lnTo>
                  <a:lnTo>
                    <a:pt x="0" y="116008"/>
                  </a:lnTo>
                  <a:lnTo>
                    <a:pt x="9112" y="70839"/>
                  </a:lnTo>
                  <a:lnTo>
                    <a:pt x="33966" y="33966"/>
                  </a:lnTo>
                  <a:lnTo>
                    <a:pt x="70840" y="9112"/>
                  </a:lnTo>
                  <a:lnTo>
                    <a:pt x="116008" y="0"/>
                  </a:lnTo>
                  <a:lnTo>
                    <a:pt x="9345739" y="0"/>
                  </a:lnTo>
                  <a:lnTo>
                    <a:pt x="9390908" y="9112"/>
                  </a:lnTo>
                  <a:lnTo>
                    <a:pt x="9427781" y="33966"/>
                  </a:lnTo>
                  <a:lnTo>
                    <a:pt x="9452636" y="70839"/>
                  </a:lnTo>
                  <a:lnTo>
                    <a:pt x="9458092" y="97886"/>
                  </a:lnTo>
                </a:path>
              </a:pathLst>
            </a:custGeom>
            <a:ln w="1906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264611" y="7238628"/>
            <a:ext cx="8474075" cy="159956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2900" spc="-20">
                <a:solidFill>
                  <a:srgbClr val="CFD0D8"/>
                </a:solidFill>
                <a:latin typeface="Roboto"/>
                <a:cs typeface="Roboto"/>
              </a:rPr>
              <a:t>Flow</a:t>
            </a:r>
            <a:endParaRPr sz="2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Input</a:t>
            </a:r>
            <a:r>
              <a:rPr dirty="0" sz="220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(source/destination)</a:t>
            </a:r>
            <a:r>
              <a:rPr dirty="0" sz="22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900" spc="535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1900" spc="-18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build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weighted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graph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900" spc="535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1900" spc="-18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run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25">
                <a:solidFill>
                  <a:srgbClr val="CFD0D8"/>
                </a:solidFill>
                <a:latin typeface="Roboto"/>
                <a:cs typeface="Roboto"/>
              </a:rPr>
              <a:t>Dijkstra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900" spc="484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reconstruct</a:t>
            </a:r>
            <a:r>
              <a:rPr dirty="0" sz="220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900" spc="535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1900" spc="-18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0">
                <a:solidFill>
                  <a:srgbClr val="CFD0D8"/>
                </a:solidFill>
                <a:latin typeface="Roboto"/>
                <a:cs typeface="Roboto"/>
              </a:rPr>
              <a:t>display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>
                <a:solidFill>
                  <a:srgbClr val="CFD0D8"/>
                </a:solidFill>
                <a:latin typeface="Roboto"/>
                <a:cs typeface="Roboto"/>
              </a:rPr>
              <a:t>&amp;</a:t>
            </a:r>
            <a:r>
              <a:rPr dirty="0" sz="22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00" spc="-10">
                <a:solidFill>
                  <a:srgbClr val="CFD0D8"/>
                </a:solidFill>
                <a:latin typeface="Roboto"/>
                <a:cs typeface="Roboto"/>
              </a:rPr>
              <a:t>distance</a:t>
            </a:r>
            <a:endParaRPr sz="2200"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288629" y="0"/>
            <a:ext cx="6999605" cy="10287000"/>
            <a:chOff x="11288629" y="0"/>
            <a:chExt cx="6999605" cy="10287000"/>
          </a:xfrm>
        </p:grpSpPr>
        <p:pic>
          <p:nvPicPr>
            <p:cNvPr id="4" name="object 4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28307" y="9846182"/>
              <a:ext cx="1609058" cy="3843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88629" y="0"/>
              <a:ext cx="6999370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973" y="618814"/>
            <a:ext cx="8635106" cy="89207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326181" y="601973"/>
            <a:ext cx="7668895" cy="856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50"/>
              <a:t>Graph</a:t>
            </a:r>
            <a:r>
              <a:rPr dirty="0" sz="5450" spc="-320"/>
              <a:t> </a:t>
            </a:r>
            <a:r>
              <a:rPr dirty="0" sz="5450" spc="-1120"/>
              <a:t>&amp;</a:t>
            </a:r>
            <a:r>
              <a:rPr dirty="0" sz="5450" spc="400"/>
              <a:t> </a:t>
            </a:r>
            <a:r>
              <a:rPr dirty="0" sz="5450"/>
              <a:t>Data</a:t>
            </a:r>
            <a:r>
              <a:rPr dirty="0" sz="5450" spc="-90"/>
              <a:t> </a:t>
            </a:r>
            <a:r>
              <a:rPr dirty="0" sz="5450" spc="110"/>
              <a:t>Structures</a:t>
            </a:r>
            <a:endParaRPr sz="54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7956" y="5527304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7956" y="5946404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7956" y="6365504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7956" y="6784604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26181" y="2064637"/>
            <a:ext cx="7697470" cy="4954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spc="200">
                <a:solidFill>
                  <a:srgbClr val="FFFFFF"/>
                </a:solidFill>
                <a:latin typeface="Roboto"/>
                <a:cs typeface="Roboto"/>
              </a:rPr>
              <a:t>Project</a:t>
            </a:r>
            <a:r>
              <a:rPr dirty="0" sz="2800" spc="50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800" spc="175">
                <a:solidFill>
                  <a:srgbClr val="FFFFFF"/>
                </a:solidFill>
                <a:latin typeface="Roboto"/>
                <a:cs typeface="Roboto"/>
              </a:rPr>
              <a:t>Graph</a:t>
            </a:r>
            <a:r>
              <a:rPr dirty="0" sz="2800" spc="50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800" spc="175">
                <a:solidFill>
                  <a:srgbClr val="FFFFFF"/>
                </a:solidFill>
                <a:latin typeface="Roboto"/>
                <a:cs typeface="Roboto"/>
              </a:rPr>
              <a:t>Details</a:t>
            </a:r>
            <a:endParaRPr sz="2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800">
              <a:latin typeface="Roboto"/>
              <a:cs typeface="Roboto"/>
            </a:endParaRPr>
          </a:p>
          <a:p>
            <a:pPr marL="12700" marR="514350">
              <a:lnSpc>
                <a:spcPct val="100000"/>
              </a:lnSpc>
            </a:pP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Vertices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(7):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Airport,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10">
                <a:solidFill>
                  <a:srgbClr val="CFD0D8"/>
                </a:solidFill>
                <a:latin typeface="Roboto"/>
                <a:cs typeface="Roboto"/>
              </a:rPr>
              <a:t>Railway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Station,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City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Mall,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25">
                <a:solidFill>
                  <a:srgbClr val="CFD0D8"/>
                </a:solidFill>
                <a:latin typeface="Roboto"/>
                <a:cs typeface="Roboto"/>
              </a:rPr>
              <a:t>Bus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Stand,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Hospital,</a:t>
            </a:r>
            <a:r>
              <a:rPr dirty="0" sz="25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College,</a:t>
            </a:r>
            <a:r>
              <a:rPr dirty="0" sz="25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10">
                <a:solidFill>
                  <a:srgbClr val="CFD0D8"/>
                </a:solidFill>
                <a:latin typeface="Roboto"/>
                <a:cs typeface="Roboto"/>
              </a:rPr>
              <a:t>Stadium.</a:t>
            </a:r>
            <a:endParaRPr sz="25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5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</a:pPr>
            <a:r>
              <a:rPr dirty="0" sz="2500" spc="-10">
                <a:solidFill>
                  <a:srgbClr val="CFD0D8"/>
                </a:solidFill>
                <a:latin typeface="Roboto"/>
                <a:cs typeface="Roboto"/>
              </a:rPr>
              <a:t>Representation:</a:t>
            </a:r>
            <a:r>
              <a:rPr dirty="0" sz="25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20">
                <a:solidFill>
                  <a:srgbClr val="CFD0D8"/>
                </a:solidFill>
                <a:latin typeface="Roboto"/>
                <a:cs typeface="Roboto"/>
              </a:rPr>
              <a:t>adjacency</a:t>
            </a:r>
            <a:r>
              <a:rPr dirty="0" sz="25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matrix</a:t>
            </a:r>
            <a:r>
              <a:rPr dirty="0" sz="25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int</a:t>
            </a:r>
            <a:r>
              <a:rPr dirty="0" sz="25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g[N][N];</a:t>
            </a:r>
            <a:r>
              <a:rPr dirty="0" sz="25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10">
                <a:solidFill>
                  <a:srgbClr val="CFD0D8"/>
                </a:solidFill>
                <a:latin typeface="Roboto"/>
                <a:cs typeface="Roboto"/>
              </a:rPr>
              <a:t>example: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g[0][2]</a:t>
            </a:r>
            <a:r>
              <a:rPr dirty="0" sz="25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=</a:t>
            </a:r>
            <a:r>
              <a:rPr dirty="0" sz="25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4</a:t>
            </a:r>
            <a:r>
              <a:rPr dirty="0" sz="25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means</a:t>
            </a:r>
            <a:r>
              <a:rPr dirty="0" sz="25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Airport</a:t>
            </a:r>
            <a:r>
              <a:rPr dirty="0" sz="25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645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2150" spc="-204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City</a:t>
            </a:r>
            <a:r>
              <a:rPr dirty="0" sz="25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Mall</a:t>
            </a:r>
            <a:r>
              <a:rPr dirty="0" sz="250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=</a:t>
            </a:r>
            <a:r>
              <a:rPr dirty="0" sz="25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4</a:t>
            </a:r>
            <a:r>
              <a:rPr dirty="0" sz="25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25">
                <a:solidFill>
                  <a:srgbClr val="CFD0D8"/>
                </a:solidFill>
                <a:latin typeface="Roboto"/>
                <a:cs typeface="Roboto"/>
              </a:rPr>
              <a:t>km.</a:t>
            </a:r>
            <a:endParaRPr sz="2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Roboto"/>
              <a:cs typeface="Roboto"/>
            </a:endParaRPr>
          </a:p>
          <a:p>
            <a:pPr marL="506095" marR="2726690">
              <a:lnSpc>
                <a:spcPct val="101899"/>
              </a:lnSpc>
            </a:pP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d[]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distance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estimates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(int)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v[]</a:t>
            </a:r>
            <a:r>
              <a:rPr dirty="0" sz="27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visited</a:t>
            </a:r>
            <a:r>
              <a:rPr dirty="0" sz="27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flags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(bool/int)</a:t>
            </a:r>
            <a:endParaRPr sz="2700">
              <a:latin typeface="Roboto"/>
              <a:cs typeface="Roboto"/>
            </a:endParaRPr>
          </a:p>
          <a:p>
            <a:pPr marL="506095" marR="711835">
              <a:lnSpc>
                <a:spcPts val="3300"/>
              </a:lnSpc>
              <a:spcBef>
                <a:spcPts val="105"/>
              </a:spcBef>
            </a:pP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p[]</a:t>
            </a:r>
            <a:r>
              <a:rPr dirty="0" sz="27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parent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pointers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reconstruct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path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path[]</a:t>
            </a:r>
            <a:r>
              <a:rPr dirty="0" sz="27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27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final</a:t>
            </a:r>
            <a:r>
              <a:rPr dirty="0" sz="27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r>
              <a:rPr dirty="0" sz="27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extracted</a:t>
            </a:r>
            <a:r>
              <a:rPr dirty="0" sz="27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from</a:t>
            </a:r>
            <a:r>
              <a:rPr dirty="0" sz="27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parents</a:t>
            </a:r>
            <a:endParaRPr sz="2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0024" y="0"/>
            <a:ext cx="17958435" cy="10287000"/>
          </a:xfrm>
          <a:custGeom>
            <a:avLst/>
            <a:gdLst/>
            <a:ahLst/>
            <a:cxnLst/>
            <a:rect l="l" t="t" r="r" b="b"/>
            <a:pathLst>
              <a:path w="17958435" h="10287000">
                <a:moveTo>
                  <a:pt x="1795797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7957976" y="0"/>
                </a:lnTo>
                <a:lnTo>
                  <a:pt x="17957976" y="10287000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80290" y="1577018"/>
            <a:ext cx="9528810" cy="856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50"/>
              <a:t>What</a:t>
            </a:r>
            <a:r>
              <a:rPr dirty="0" sz="5450" spc="285"/>
              <a:t> </a:t>
            </a:r>
            <a:r>
              <a:rPr dirty="0" sz="5450" spc="60"/>
              <a:t>iS</a:t>
            </a:r>
            <a:r>
              <a:rPr dirty="0" sz="5450" spc="280"/>
              <a:t> </a:t>
            </a:r>
            <a:r>
              <a:rPr dirty="0" sz="5450" spc="130"/>
              <a:t>DijkStra'S</a:t>
            </a:r>
            <a:r>
              <a:rPr dirty="0" sz="5450" spc="285"/>
              <a:t> </a:t>
            </a:r>
            <a:r>
              <a:rPr dirty="0" sz="5450" spc="150"/>
              <a:t>Algorithm?</a:t>
            </a:r>
            <a:endParaRPr sz="5450"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5239" y="3733423"/>
            <a:ext cx="104775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024" y="4269287"/>
            <a:ext cx="7135274" cy="263529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5239" y="4266823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5239" y="4800223"/>
            <a:ext cx="104775" cy="1047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792989" y="2664061"/>
            <a:ext cx="8968105" cy="2912745"/>
          </a:xfrm>
          <a:prstGeom prst="rect">
            <a:avLst/>
          </a:prstGeom>
        </p:spPr>
        <p:txBody>
          <a:bodyPr wrap="square" lIns="0" tIns="234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3050">
                <a:solidFill>
                  <a:srgbClr val="FFFFFF"/>
                </a:solidFill>
                <a:latin typeface="Roboto"/>
                <a:cs typeface="Roboto"/>
              </a:rPr>
              <a:t>Key</a:t>
            </a:r>
            <a:r>
              <a:rPr dirty="0" sz="3050" spc="-1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050" spc="-10">
                <a:solidFill>
                  <a:srgbClr val="FFFFFF"/>
                </a:solidFill>
                <a:latin typeface="Roboto"/>
                <a:cs typeface="Roboto"/>
              </a:rPr>
              <a:t>Characteristics</a:t>
            </a:r>
            <a:endParaRPr sz="3050">
              <a:latin typeface="Roboto"/>
              <a:cs typeface="Roboto"/>
            </a:endParaRPr>
          </a:p>
          <a:p>
            <a:pPr marL="497205" marR="746125">
              <a:lnSpc>
                <a:spcPct val="132100"/>
              </a:lnSpc>
              <a:spcBef>
                <a:spcPts val="515"/>
              </a:spcBef>
            </a:pP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Greedy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algorithm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140">
                <a:solidFill>
                  <a:srgbClr val="CFD0D8"/>
                </a:solidFill>
                <a:latin typeface="Roboto"/>
                <a:cs typeface="Roboto"/>
              </a:rPr>
              <a:t>non-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negative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weighted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10">
                <a:solidFill>
                  <a:srgbClr val="CFD0D8"/>
                </a:solidFill>
                <a:latin typeface="Roboto"/>
                <a:cs typeface="Roboto"/>
              </a:rPr>
              <a:t>graphs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Maintains</a:t>
            </a:r>
            <a:r>
              <a:rPr dirty="0" sz="2650" spc="-1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10">
                <a:solidFill>
                  <a:srgbClr val="CFD0D8"/>
                </a:solidFill>
                <a:latin typeface="Roboto"/>
                <a:cs typeface="Roboto"/>
              </a:rPr>
              <a:t>provisional</a:t>
            </a:r>
            <a:r>
              <a:rPr dirty="0" sz="2650" spc="-1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distances</a:t>
            </a:r>
            <a:r>
              <a:rPr dirty="0" sz="26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650" spc="-1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visited</a:t>
            </a:r>
            <a:r>
              <a:rPr dirty="0" sz="26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25">
                <a:solidFill>
                  <a:srgbClr val="CFD0D8"/>
                </a:solidFill>
                <a:latin typeface="Roboto"/>
                <a:cs typeface="Roboto"/>
              </a:rPr>
              <a:t>set</a:t>
            </a:r>
            <a:endParaRPr sz="2650">
              <a:latin typeface="Roboto"/>
              <a:cs typeface="Roboto"/>
            </a:endParaRPr>
          </a:p>
          <a:p>
            <a:pPr marL="497205" marR="5080">
              <a:lnSpc>
                <a:spcPct val="132100"/>
              </a:lnSpc>
            </a:pP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Core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operation:</a:t>
            </a:r>
            <a:r>
              <a:rPr dirty="0" sz="26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relaxation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26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update</a:t>
            </a:r>
            <a:r>
              <a:rPr dirty="0" sz="26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distance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if</a:t>
            </a:r>
            <a:r>
              <a:rPr dirty="0" sz="26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10">
                <a:solidFill>
                  <a:srgbClr val="CFD0D8"/>
                </a:solidFill>
                <a:latin typeface="Roboto"/>
                <a:cs typeface="Roboto"/>
              </a:rPr>
              <a:t>shorter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path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26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20">
                <a:solidFill>
                  <a:srgbClr val="CFD0D8"/>
                </a:solidFill>
                <a:latin typeface="Roboto"/>
                <a:cs typeface="Roboto"/>
              </a:rPr>
              <a:t>found</a:t>
            </a:r>
            <a:endParaRPr sz="26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8710" y="6358464"/>
            <a:ext cx="44005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CFD0D8"/>
                </a:solidFill>
                <a:latin typeface="Roboto"/>
                <a:cs typeface="Roboto"/>
              </a:rPr>
              <a:t>Source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2811" y="6358464"/>
            <a:ext cx="73279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CFD0D8"/>
                </a:solidFill>
                <a:latin typeface="Roboto"/>
                <a:cs typeface="Roboto"/>
              </a:rPr>
              <a:t>Choose</a:t>
            </a:r>
            <a:r>
              <a:rPr dirty="0" sz="1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050" spc="-25">
                <a:solidFill>
                  <a:srgbClr val="CFD0D8"/>
                </a:solidFill>
                <a:latin typeface="Roboto"/>
                <a:cs typeface="Roboto"/>
              </a:rPr>
              <a:t>Min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0181" y="6358464"/>
            <a:ext cx="72898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CFD0D8"/>
                </a:solidFill>
                <a:latin typeface="Roboto"/>
                <a:cs typeface="Roboto"/>
              </a:rPr>
              <a:t>Relax</a:t>
            </a:r>
            <a:r>
              <a:rPr dirty="0" sz="10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CFD0D8"/>
                </a:solidFill>
                <a:latin typeface="Roboto"/>
                <a:cs typeface="Roboto"/>
              </a:rPr>
              <a:t>Neigh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2761" y="6358464"/>
            <a:ext cx="7143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CFD0D8"/>
                </a:solidFill>
                <a:latin typeface="Roboto"/>
                <a:cs typeface="Roboto"/>
              </a:rPr>
              <a:t>Update</a:t>
            </a:r>
            <a:r>
              <a:rPr dirty="0" sz="10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050" spc="-20">
                <a:solidFill>
                  <a:srgbClr val="CFD0D8"/>
                </a:solidFill>
                <a:latin typeface="Roboto"/>
                <a:cs typeface="Roboto"/>
              </a:rPr>
              <a:t>Dist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5085" y="6269682"/>
            <a:ext cx="592455" cy="3479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02870" marR="5080" indent="-90805">
              <a:lnSpc>
                <a:spcPct val="101200"/>
              </a:lnSpc>
              <a:spcBef>
                <a:spcPts val="85"/>
              </a:spcBef>
            </a:pPr>
            <a:r>
              <a:rPr dirty="0" sz="1050" spc="-10">
                <a:solidFill>
                  <a:srgbClr val="CFD0D8"/>
                </a:solidFill>
                <a:latin typeface="Roboto"/>
                <a:cs typeface="Roboto"/>
              </a:rPr>
              <a:t>Repeat </a:t>
            </a:r>
            <a:r>
              <a:rPr dirty="0" sz="1050" spc="-25">
                <a:solidFill>
                  <a:srgbClr val="CFD0D8"/>
                </a:solidFill>
                <a:latin typeface="Roboto"/>
                <a:cs typeface="Roboto"/>
              </a:rPr>
              <a:t>to </a:t>
            </a:r>
            <a:r>
              <a:rPr dirty="0" sz="1050" spc="-10">
                <a:solidFill>
                  <a:srgbClr val="CFD0D8"/>
                </a:solidFill>
                <a:latin typeface="Roboto"/>
                <a:cs typeface="Roboto"/>
              </a:rPr>
              <a:t>Target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2989" y="5863524"/>
            <a:ext cx="8080375" cy="3390900"/>
          </a:xfrm>
          <a:prstGeom prst="rect">
            <a:avLst/>
          </a:prstGeom>
        </p:spPr>
        <p:txBody>
          <a:bodyPr wrap="square" lIns="0" tIns="205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3050">
                <a:solidFill>
                  <a:srgbClr val="FFFFFF"/>
                </a:solidFill>
                <a:latin typeface="Roboto"/>
                <a:cs typeface="Roboto"/>
              </a:rPr>
              <a:t>Algorithm</a:t>
            </a:r>
            <a:r>
              <a:rPr dirty="0" sz="3050" spc="-10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050" spc="-20">
                <a:solidFill>
                  <a:srgbClr val="FFFFFF"/>
                </a:solidFill>
                <a:latin typeface="Roboto"/>
                <a:cs typeface="Roboto"/>
              </a:rPr>
              <a:t>Steps</a:t>
            </a:r>
            <a:endParaRPr sz="3050">
              <a:latin typeface="Roboto"/>
              <a:cs typeface="Roboto"/>
            </a:endParaRPr>
          </a:p>
          <a:p>
            <a:pPr marL="495934" indent="-313055">
              <a:lnSpc>
                <a:spcPct val="100000"/>
              </a:lnSpc>
              <a:spcBef>
                <a:spcPts val="1330"/>
              </a:spcBef>
              <a:buAutoNum type="arabicPeriod"/>
              <a:tabLst>
                <a:tab pos="495934" algn="l"/>
              </a:tabLst>
            </a:pP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Set</a:t>
            </a:r>
            <a:r>
              <a:rPr dirty="0" sz="26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source</a:t>
            </a:r>
            <a:r>
              <a:rPr dirty="0" sz="26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distance</a:t>
            </a:r>
            <a:r>
              <a:rPr dirty="0" sz="26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=</a:t>
            </a:r>
            <a:r>
              <a:rPr dirty="0" sz="26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0;</a:t>
            </a:r>
            <a:r>
              <a:rPr dirty="0" sz="26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others</a:t>
            </a:r>
            <a:r>
              <a:rPr dirty="0" sz="26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=</a:t>
            </a:r>
            <a:r>
              <a:rPr dirty="0" sz="26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50">
                <a:solidFill>
                  <a:srgbClr val="CFD0D8"/>
                </a:solidFill>
                <a:latin typeface="Roboto"/>
                <a:cs typeface="Roboto"/>
              </a:rPr>
              <a:t>∞</a:t>
            </a:r>
            <a:endParaRPr sz="2650">
              <a:latin typeface="Roboto"/>
              <a:cs typeface="Roboto"/>
            </a:endParaRPr>
          </a:p>
          <a:p>
            <a:pPr marL="495934" indent="-313055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495934" algn="l"/>
              </a:tabLst>
            </a:pP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Select</a:t>
            </a:r>
            <a:r>
              <a:rPr dirty="0" sz="26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10">
                <a:solidFill>
                  <a:srgbClr val="CFD0D8"/>
                </a:solidFill>
                <a:latin typeface="Roboto"/>
                <a:cs typeface="Roboto"/>
              </a:rPr>
              <a:t>unvisited</a:t>
            </a:r>
            <a:r>
              <a:rPr dirty="0" sz="26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vertex</a:t>
            </a:r>
            <a:r>
              <a:rPr dirty="0" sz="26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26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minimum</a:t>
            </a:r>
            <a:r>
              <a:rPr dirty="0" sz="26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10">
                <a:solidFill>
                  <a:srgbClr val="CFD0D8"/>
                </a:solidFill>
                <a:latin typeface="Roboto"/>
                <a:cs typeface="Roboto"/>
              </a:rPr>
              <a:t>distance</a:t>
            </a:r>
            <a:endParaRPr sz="2650">
              <a:latin typeface="Roboto"/>
              <a:cs typeface="Roboto"/>
            </a:endParaRPr>
          </a:p>
          <a:p>
            <a:pPr marL="495934" marR="10795" indent="-313055">
              <a:lnSpc>
                <a:spcPct val="132100"/>
              </a:lnSpc>
              <a:buAutoNum type="arabicPeriod"/>
              <a:tabLst>
                <a:tab pos="497205" algn="l"/>
              </a:tabLst>
            </a:pP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Relax</a:t>
            </a:r>
            <a:r>
              <a:rPr dirty="0" sz="26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all</a:t>
            </a:r>
            <a:r>
              <a:rPr dirty="0" sz="26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adjacent</a:t>
            </a:r>
            <a:r>
              <a:rPr dirty="0" sz="26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20">
                <a:solidFill>
                  <a:srgbClr val="CFD0D8"/>
                </a:solidFill>
                <a:latin typeface="Roboto"/>
                <a:cs typeface="Roboto"/>
              </a:rPr>
              <a:t>neighbours;</a:t>
            </a:r>
            <a:r>
              <a:rPr dirty="0" sz="26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update</a:t>
            </a:r>
            <a:r>
              <a:rPr dirty="0" sz="26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parent</a:t>
            </a:r>
            <a:r>
              <a:rPr dirty="0" sz="26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20">
                <a:solidFill>
                  <a:srgbClr val="CFD0D8"/>
                </a:solidFill>
                <a:latin typeface="Roboto"/>
                <a:cs typeface="Roboto"/>
              </a:rPr>
              <a:t>when </a:t>
            </a:r>
            <a:r>
              <a:rPr dirty="0" sz="2650" spc="-20">
                <a:solidFill>
                  <a:srgbClr val="CFD0D8"/>
                </a:solidFill>
                <a:latin typeface="Roboto"/>
                <a:cs typeface="Roboto"/>
              </a:rPr>
              <a:t>	</a:t>
            </a:r>
            <a:r>
              <a:rPr dirty="0" sz="2650" spc="-10">
                <a:solidFill>
                  <a:srgbClr val="CFD0D8"/>
                </a:solidFill>
                <a:latin typeface="Roboto"/>
                <a:cs typeface="Roboto"/>
              </a:rPr>
              <a:t>improved</a:t>
            </a:r>
            <a:endParaRPr sz="2650">
              <a:latin typeface="Roboto"/>
              <a:cs typeface="Roboto"/>
            </a:endParaRPr>
          </a:p>
          <a:p>
            <a:pPr marL="495934" indent="-313055">
              <a:lnSpc>
                <a:spcPct val="100000"/>
              </a:lnSpc>
              <a:spcBef>
                <a:spcPts val="1020"/>
              </a:spcBef>
              <a:buAutoNum type="arabicPeriod"/>
              <a:tabLst>
                <a:tab pos="495934" algn="l"/>
              </a:tabLst>
            </a:pP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Mark</a:t>
            </a:r>
            <a:r>
              <a:rPr dirty="0" sz="26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vertex</a:t>
            </a:r>
            <a:r>
              <a:rPr dirty="0" sz="26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10">
                <a:solidFill>
                  <a:srgbClr val="CFD0D8"/>
                </a:solidFill>
                <a:latin typeface="Roboto"/>
                <a:cs typeface="Roboto"/>
              </a:rPr>
              <a:t>visited;</a:t>
            </a:r>
            <a:r>
              <a:rPr dirty="0" sz="26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repeat</a:t>
            </a:r>
            <a:r>
              <a:rPr dirty="0" sz="26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until</a:t>
            </a:r>
            <a:r>
              <a:rPr dirty="0" sz="26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target</a:t>
            </a:r>
            <a:r>
              <a:rPr dirty="0" sz="26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or</a:t>
            </a:r>
            <a:r>
              <a:rPr dirty="0" sz="26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>
                <a:solidFill>
                  <a:srgbClr val="CFD0D8"/>
                </a:solidFill>
                <a:latin typeface="Roboto"/>
                <a:cs typeface="Roboto"/>
              </a:rPr>
              <a:t>all</a:t>
            </a:r>
            <a:r>
              <a:rPr dirty="0" sz="26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650" spc="-10">
                <a:solidFill>
                  <a:srgbClr val="CFD0D8"/>
                </a:solidFill>
                <a:latin typeface="Roboto"/>
                <a:cs typeface="Roboto"/>
              </a:rPr>
              <a:t>visited</a:t>
            </a:r>
            <a:endParaRPr sz="2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2696" y="0"/>
            <a:ext cx="17955895" cy="10287000"/>
          </a:xfrm>
          <a:custGeom>
            <a:avLst/>
            <a:gdLst/>
            <a:ahLst/>
            <a:cxnLst/>
            <a:rect l="l" t="t" r="r" b="b"/>
            <a:pathLst>
              <a:path w="17955895" h="10287000">
                <a:moveTo>
                  <a:pt x="17955303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7955303" y="0"/>
                </a:lnTo>
                <a:lnTo>
                  <a:pt x="17955303" y="10287000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700" spc="-395"/>
              <a:t>P</a:t>
            </a:r>
            <a:r>
              <a:rPr dirty="0" sz="4700" spc="-700"/>
              <a:t> </a:t>
            </a:r>
            <a:r>
              <a:rPr dirty="0" sz="4700" spc="-30"/>
              <a:t>S</a:t>
            </a:r>
            <a:r>
              <a:rPr dirty="0" sz="4700" spc="-695"/>
              <a:t> </a:t>
            </a:r>
            <a:r>
              <a:rPr dirty="0" sz="4700" spc="-260"/>
              <a:t>e</a:t>
            </a:r>
            <a:r>
              <a:rPr dirty="0" sz="4700" spc="-695"/>
              <a:t> </a:t>
            </a:r>
            <a:r>
              <a:rPr dirty="0" sz="4700" spc="-204"/>
              <a:t>u</a:t>
            </a:r>
            <a:r>
              <a:rPr dirty="0" sz="4700" spc="-695"/>
              <a:t> </a:t>
            </a:r>
            <a:r>
              <a:rPr dirty="0" sz="4700" spc="-265"/>
              <a:t>d</a:t>
            </a:r>
            <a:r>
              <a:rPr dirty="0" sz="4700" spc="-700"/>
              <a:t> </a:t>
            </a:r>
            <a:r>
              <a:rPr dirty="0" sz="4700" spc="-185"/>
              <a:t>o</a:t>
            </a:r>
            <a:r>
              <a:rPr dirty="0" sz="4700" spc="-695"/>
              <a:t> </a:t>
            </a:r>
            <a:r>
              <a:rPr dirty="0" sz="4700" spc="-30"/>
              <a:t>c</a:t>
            </a:r>
            <a:r>
              <a:rPr dirty="0" sz="4700" spc="-695"/>
              <a:t> </a:t>
            </a:r>
            <a:r>
              <a:rPr dirty="0" sz="4700" spc="-185"/>
              <a:t>o</a:t>
            </a:r>
            <a:r>
              <a:rPr dirty="0" sz="4700" spc="-695"/>
              <a:t> </a:t>
            </a:r>
            <a:r>
              <a:rPr dirty="0" sz="4700" spc="-265"/>
              <a:t>d</a:t>
            </a:r>
            <a:r>
              <a:rPr dirty="0" sz="4700" spc="-700"/>
              <a:t> </a:t>
            </a:r>
            <a:r>
              <a:rPr dirty="0" sz="4700" spc="-260"/>
              <a:t>e</a:t>
            </a:r>
            <a:r>
              <a:rPr dirty="0" sz="4700" spc="1135"/>
              <a:t> </a:t>
            </a:r>
            <a:r>
              <a:rPr dirty="0" sz="4700" spc="-930"/>
              <a:t>&amp;</a:t>
            </a:r>
            <a:r>
              <a:rPr dirty="0" sz="4700" spc="1135"/>
              <a:t> </a:t>
            </a:r>
            <a:r>
              <a:rPr dirty="0" sz="4700" spc="-640"/>
              <a:t>W</a:t>
            </a:r>
            <a:r>
              <a:rPr dirty="0" sz="4700" spc="-700"/>
              <a:t> </a:t>
            </a:r>
            <a:r>
              <a:rPr dirty="0" sz="4700" spc="-185"/>
              <a:t>o</a:t>
            </a:r>
            <a:r>
              <a:rPr dirty="0" sz="4700" spc="-695"/>
              <a:t> </a:t>
            </a:r>
            <a:r>
              <a:rPr dirty="0" sz="4700" spc="-210"/>
              <a:t>r</a:t>
            </a:r>
            <a:r>
              <a:rPr dirty="0" sz="4700" spc="-695"/>
              <a:t> </a:t>
            </a:r>
            <a:r>
              <a:rPr dirty="0" sz="4700" spc="-80"/>
              <a:t>k</a:t>
            </a:r>
            <a:r>
              <a:rPr dirty="0" sz="4700" spc="-695"/>
              <a:t> </a:t>
            </a:r>
            <a:r>
              <a:rPr dirty="0" sz="4700" spc="-260"/>
              <a:t>e</a:t>
            </a:r>
            <a:r>
              <a:rPr dirty="0" sz="4700" spc="-700"/>
              <a:t> </a:t>
            </a:r>
            <a:r>
              <a:rPr dirty="0" sz="4700" spc="-265"/>
              <a:t>d</a:t>
            </a:r>
            <a:r>
              <a:rPr dirty="0" sz="4700" spc="1135"/>
              <a:t> </a:t>
            </a:r>
            <a:r>
              <a:rPr dirty="0" sz="4700" spc="-580"/>
              <a:t>E</a:t>
            </a:r>
            <a:r>
              <a:rPr dirty="0" sz="4700" spc="-695"/>
              <a:t> </a:t>
            </a:r>
            <a:r>
              <a:rPr dirty="0" sz="4700" spc="-195"/>
              <a:t>x</a:t>
            </a:r>
            <a:r>
              <a:rPr dirty="0" sz="4700" spc="-695"/>
              <a:t> </a:t>
            </a:r>
            <a:r>
              <a:rPr dirty="0" sz="4700" spc="-204"/>
              <a:t>a</a:t>
            </a:r>
            <a:r>
              <a:rPr dirty="0" sz="4700" spc="-700"/>
              <a:t> </a:t>
            </a:r>
            <a:r>
              <a:rPr dirty="0" sz="4700" spc="-355"/>
              <a:t>m</a:t>
            </a:r>
            <a:r>
              <a:rPr dirty="0" sz="4700" spc="-695"/>
              <a:t> </a:t>
            </a:r>
            <a:r>
              <a:rPr dirty="0" sz="4700" spc="-265"/>
              <a:t>p</a:t>
            </a:r>
            <a:r>
              <a:rPr dirty="0" sz="4700" spc="-695"/>
              <a:t> </a:t>
            </a:r>
            <a:r>
              <a:rPr dirty="0" sz="4700" spc="-229"/>
              <a:t>l</a:t>
            </a:r>
            <a:r>
              <a:rPr dirty="0" sz="4700" spc="-695"/>
              <a:t> </a:t>
            </a:r>
            <a:r>
              <a:rPr dirty="0" sz="4700" spc="-310"/>
              <a:t>e</a:t>
            </a:r>
            <a:endParaRPr sz="4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697" y="2336337"/>
            <a:ext cx="10511126" cy="69219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136264" y="3120076"/>
            <a:ext cx="2307590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Working</a:t>
            </a:r>
            <a:r>
              <a:rPr dirty="0" sz="2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Roboto"/>
                <a:cs typeface="Roboto"/>
              </a:rPr>
              <a:t>Example</a:t>
            </a:r>
            <a:endParaRPr sz="23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8964" y="3608762"/>
            <a:ext cx="6875577" cy="38986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50688" y="7728287"/>
            <a:ext cx="5143500" cy="88265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Airport</a:t>
            </a:r>
            <a:r>
              <a:rPr dirty="0" sz="22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950" spc="565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1950" spc="-18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City</a:t>
            </a:r>
            <a:r>
              <a:rPr dirty="0" sz="22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Mall</a:t>
            </a:r>
            <a:r>
              <a:rPr dirty="0" sz="22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(4</a:t>
            </a:r>
            <a:r>
              <a:rPr dirty="0" sz="22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km)</a:t>
            </a:r>
            <a:r>
              <a:rPr dirty="0" sz="22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dirty="0" sz="22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City</a:t>
            </a:r>
            <a:r>
              <a:rPr dirty="0" sz="22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Mall</a:t>
            </a:r>
            <a:r>
              <a:rPr dirty="0" sz="22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950" spc="515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endParaRPr sz="1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Hospital</a:t>
            </a:r>
            <a:r>
              <a:rPr dirty="0" sz="22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(5</a:t>
            </a:r>
            <a:r>
              <a:rPr dirty="0" sz="22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km)</a:t>
            </a:r>
            <a:r>
              <a:rPr dirty="0" sz="22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=</a:t>
            </a:r>
            <a:r>
              <a:rPr dirty="0" sz="22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9</a:t>
            </a:r>
            <a:r>
              <a:rPr dirty="0" sz="22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km</a:t>
            </a:r>
            <a:r>
              <a:rPr dirty="0" sz="22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 spc="-10">
                <a:solidFill>
                  <a:srgbClr val="CFD0D8"/>
                </a:solidFill>
                <a:latin typeface="Roboto"/>
                <a:cs typeface="Roboto"/>
              </a:rPr>
              <a:t>(shortest)</a:t>
            </a:r>
            <a:endParaRPr sz="22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6999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8485" rIns="0" bIns="0" rtlCol="0" vert="horz">
            <a:spAutoFit/>
          </a:bodyPr>
          <a:lstStyle/>
          <a:p>
            <a:pPr marL="8687435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dirty="0" spc="-330"/>
              <a:t> </a:t>
            </a:r>
            <a:r>
              <a:rPr dirty="0" spc="-975"/>
              <a:t>&amp;</a:t>
            </a:r>
            <a:r>
              <a:rPr dirty="0" spc="225"/>
              <a:t> </a:t>
            </a:r>
            <a:r>
              <a:rPr dirty="0" spc="35"/>
              <a:t>Menu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515" y="1278597"/>
            <a:ext cx="7979406" cy="79795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006" y="6232857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006" y="6661482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006" y="7090107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006" y="7518732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7006" y="8375982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Main</a:t>
            </a:r>
            <a:r>
              <a:rPr dirty="0" spc="-55"/>
              <a:t> </a:t>
            </a:r>
            <a:r>
              <a:rPr dirty="0"/>
              <a:t>Menu</a:t>
            </a:r>
            <a:r>
              <a:rPr dirty="0" spc="-50"/>
              <a:t> </a:t>
            </a:r>
            <a:r>
              <a:rPr dirty="0" spc="-10"/>
              <a:t>(program)</a:t>
            </a:r>
          </a:p>
          <a:p>
            <a:pPr marL="524510" indent="-33210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24510" algn="l"/>
              </a:tabLst>
            </a:pPr>
            <a:r>
              <a:rPr dirty="0" sz="2800" spc="-20">
                <a:solidFill>
                  <a:srgbClr val="CFD0D8"/>
                </a:solidFill>
              </a:rPr>
              <a:t>Display</a:t>
            </a:r>
            <a:r>
              <a:rPr dirty="0" sz="2800" spc="-120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Locations</a:t>
            </a:r>
            <a:endParaRPr sz="2800"/>
          </a:p>
          <a:p>
            <a:pPr marL="524510" indent="-33210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524510" algn="l"/>
              </a:tabLst>
            </a:pPr>
            <a:r>
              <a:rPr dirty="0" sz="2800" spc="-20">
                <a:solidFill>
                  <a:srgbClr val="CFD0D8"/>
                </a:solidFill>
              </a:rPr>
              <a:t>Display</a:t>
            </a:r>
            <a:r>
              <a:rPr dirty="0" sz="2800" spc="-9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Road</a:t>
            </a:r>
            <a:r>
              <a:rPr dirty="0" sz="2800" spc="-95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Network</a:t>
            </a:r>
            <a:endParaRPr sz="2800"/>
          </a:p>
          <a:p>
            <a:pPr marL="524510" indent="-33210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524510" algn="l"/>
              </a:tabLst>
            </a:pPr>
            <a:r>
              <a:rPr dirty="0" sz="2800">
                <a:solidFill>
                  <a:srgbClr val="CFD0D8"/>
                </a:solidFill>
              </a:rPr>
              <a:t>Find</a:t>
            </a:r>
            <a:r>
              <a:rPr dirty="0" sz="2800" spc="-11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Shortest</a:t>
            </a:r>
            <a:r>
              <a:rPr dirty="0" sz="2800" spc="-105">
                <a:solidFill>
                  <a:srgbClr val="CFD0D8"/>
                </a:solidFill>
              </a:rPr>
              <a:t> </a:t>
            </a:r>
            <a:r>
              <a:rPr dirty="0" sz="2800" spc="-20">
                <a:solidFill>
                  <a:srgbClr val="CFD0D8"/>
                </a:solidFill>
              </a:rPr>
              <a:t>Route</a:t>
            </a:r>
            <a:endParaRPr sz="2800"/>
          </a:p>
          <a:p>
            <a:pPr marL="524510" indent="-33210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524510" algn="l"/>
              </a:tabLst>
            </a:pPr>
            <a:r>
              <a:rPr dirty="0" sz="2800">
                <a:solidFill>
                  <a:srgbClr val="CFD0D8"/>
                </a:solidFill>
              </a:rPr>
              <a:t>Run</a:t>
            </a:r>
            <a:r>
              <a:rPr dirty="0" sz="2800" spc="-130">
                <a:solidFill>
                  <a:srgbClr val="CFD0D8"/>
                </a:solidFill>
              </a:rPr>
              <a:t> </a:t>
            </a:r>
            <a:r>
              <a:rPr dirty="0" sz="2800" spc="-20">
                <a:solidFill>
                  <a:srgbClr val="CFD0D8"/>
                </a:solidFill>
              </a:rPr>
              <a:t>Tests</a:t>
            </a:r>
            <a:endParaRPr sz="2800"/>
          </a:p>
          <a:p>
            <a:pPr marL="524510" indent="-33210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524510" algn="l"/>
              </a:tabLst>
            </a:pPr>
            <a:r>
              <a:rPr dirty="0" sz="2800" spc="-20">
                <a:solidFill>
                  <a:srgbClr val="CFD0D8"/>
                </a:solidFill>
              </a:rPr>
              <a:t>Exit</a:t>
            </a:r>
            <a:endParaRPr sz="2800"/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800"/>
          </a:p>
          <a:p>
            <a:pPr marL="12700">
              <a:lnSpc>
                <a:spcPct val="100000"/>
              </a:lnSpc>
            </a:pPr>
            <a:r>
              <a:rPr dirty="0"/>
              <a:t>Core</a:t>
            </a:r>
            <a:r>
              <a:rPr dirty="0" spc="40"/>
              <a:t> </a:t>
            </a:r>
            <a:r>
              <a:rPr dirty="0" spc="-10"/>
              <a:t>Functions</a:t>
            </a:r>
          </a:p>
          <a:p>
            <a:pPr marL="523875" marR="5080">
              <a:lnSpc>
                <a:spcPct val="100400"/>
              </a:lnSpc>
              <a:spcBef>
                <a:spcPts val="1310"/>
              </a:spcBef>
            </a:pPr>
            <a:r>
              <a:rPr dirty="0" sz="2800">
                <a:solidFill>
                  <a:srgbClr val="CFD0D8"/>
                </a:solidFill>
              </a:rPr>
              <a:t>locations()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—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prints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indexed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list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of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nodes </a:t>
            </a:r>
            <a:r>
              <a:rPr dirty="0" sz="2800">
                <a:solidFill>
                  <a:srgbClr val="CFD0D8"/>
                </a:solidFill>
              </a:rPr>
              <a:t>roads()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—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prints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adjacency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matrix</a:t>
            </a:r>
            <a:r>
              <a:rPr dirty="0" sz="2800" spc="-5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/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edge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 spc="-20">
                <a:solidFill>
                  <a:srgbClr val="CFD0D8"/>
                </a:solidFill>
              </a:rPr>
              <a:t>list </a:t>
            </a:r>
            <a:r>
              <a:rPr dirty="0" sz="2800">
                <a:solidFill>
                  <a:srgbClr val="CFD0D8"/>
                </a:solidFill>
              </a:rPr>
              <a:t>dijkstra()</a:t>
            </a:r>
            <a:r>
              <a:rPr dirty="0" sz="2800" spc="-8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—</a:t>
            </a:r>
            <a:r>
              <a:rPr dirty="0" sz="2800" spc="-8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computes</a:t>
            </a:r>
            <a:r>
              <a:rPr dirty="0" sz="2800" spc="-8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distances</a:t>
            </a:r>
            <a:r>
              <a:rPr dirty="0" sz="2800" spc="-8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and</a:t>
            </a:r>
            <a:r>
              <a:rPr dirty="0" sz="2800" spc="-85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parents </a:t>
            </a:r>
            <a:r>
              <a:rPr dirty="0" sz="2800">
                <a:solidFill>
                  <a:srgbClr val="CFD0D8"/>
                </a:solidFill>
              </a:rPr>
              <a:t>tests()</a:t>
            </a:r>
            <a:r>
              <a:rPr dirty="0" sz="2800" spc="-4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—</a:t>
            </a:r>
            <a:r>
              <a:rPr dirty="0" sz="2800" spc="-4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automated</a:t>
            </a:r>
            <a:r>
              <a:rPr dirty="0" sz="2800" spc="-5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test</a:t>
            </a:r>
            <a:r>
              <a:rPr dirty="0" sz="2800" spc="-4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cases</a:t>
            </a:r>
            <a:r>
              <a:rPr dirty="0" sz="2800" spc="-4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and</a:t>
            </a:r>
            <a:r>
              <a:rPr dirty="0" sz="2800" spc="-45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result summary</a:t>
            </a:r>
            <a:endParaRPr sz="2800"/>
          </a:p>
          <a:p>
            <a:pPr marL="523875">
              <a:lnSpc>
                <a:spcPct val="100000"/>
              </a:lnSpc>
              <a:spcBef>
                <a:spcPts val="15"/>
              </a:spcBef>
            </a:pPr>
            <a:r>
              <a:rPr dirty="0" sz="2800">
                <a:solidFill>
                  <a:srgbClr val="CFD0D8"/>
                </a:solidFill>
              </a:rPr>
              <a:t>main()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—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input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loop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and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menu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control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0290" y="2141651"/>
            <a:ext cx="8174990" cy="871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50" spc="-25"/>
              <a:t>Time</a:t>
            </a:r>
            <a:r>
              <a:rPr dirty="0" sz="5550" spc="-35"/>
              <a:t> </a:t>
            </a:r>
            <a:r>
              <a:rPr dirty="0" sz="5550" spc="-1135"/>
              <a:t>&amp;</a:t>
            </a:r>
            <a:r>
              <a:rPr dirty="0" sz="5550" spc="440"/>
              <a:t> </a:t>
            </a:r>
            <a:r>
              <a:rPr dirty="0" sz="5550" spc="110"/>
              <a:t>Space</a:t>
            </a:r>
            <a:r>
              <a:rPr dirty="0" sz="5550" spc="200"/>
              <a:t> </a:t>
            </a:r>
            <a:r>
              <a:rPr dirty="0" sz="5550" spc="-10"/>
              <a:t>Complexity</a:t>
            </a:r>
            <a:endParaRPr sz="5550"/>
          </a:p>
        </p:txBody>
      </p:sp>
      <p:sp>
        <p:nvSpPr>
          <p:cNvPr id="3" name="object 3"/>
          <p:cNvSpPr txBox="1"/>
          <p:nvPr/>
        </p:nvSpPr>
        <p:spPr>
          <a:xfrm>
            <a:off x="9493887" y="3460958"/>
            <a:ext cx="7774305" cy="2581275"/>
          </a:xfrm>
          <a:prstGeom prst="rect">
            <a:avLst/>
          </a:prstGeom>
        </p:spPr>
        <p:txBody>
          <a:bodyPr wrap="square" lIns="0" tIns="271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z="3350">
                <a:solidFill>
                  <a:srgbClr val="FFFFFF"/>
                </a:solidFill>
                <a:latin typeface="Roboto"/>
                <a:cs typeface="Roboto"/>
              </a:rPr>
              <a:t>Space</a:t>
            </a:r>
            <a:r>
              <a:rPr dirty="0" sz="3350" spc="-8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350" spc="-10">
                <a:solidFill>
                  <a:srgbClr val="FFFFFF"/>
                </a:solidFill>
                <a:latin typeface="Roboto"/>
                <a:cs typeface="Roboto"/>
              </a:rPr>
              <a:t>Complexity</a:t>
            </a:r>
            <a:endParaRPr sz="3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Adjacency</a:t>
            </a:r>
            <a:r>
              <a:rPr dirty="0" sz="28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matrix</a:t>
            </a:r>
            <a:r>
              <a:rPr dirty="0" sz="28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requires</a:t>
            </a:r>
            <a:r>
              <a:rPr dirty="0" sz="28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O(V²)</a:t>
            </a:r>
            <a:r>
              <a:rPr dirty="0" sz="28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space</a:t>
            </a:r>
            <a:r>
              <a:rPr dirty="0" sz="28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8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store</a:t>
            </a:r>
            <a:r>
              <a:rPr dirty="0" sz="28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 spc="-50">
                <a:solidFill>
                  <a:srgbClr val="CFD0D8"/>
                </a:solidFill>
                <a:latin typeface="Roboto"/>
                <a:cs typeface="Roboto"/>
              </a:rPr>
              <a:t>V</a:t>
            </a:r>
            <a:endParaRPr sz="2800">
              <a:latin typeface="Roboto"/>
              <a:cs typeface="Roboto"/>
            </a:endParaRPr>
          </a:p>
          <a:p>
            <a:pPr marL="12700" marR="77470">
              <a:lnSpc>
                <a:spcPct val="133900"/>
              </a:lnSpc>
            </a:pP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×</a:t>
            </a:r>
            <a:r>
              <a:rPr dirty="0" sz="2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V</a:t>
            </a:r>
            <a:r>
              <a:rPr dirty="0" sz="2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distances.</a:t>
            </a:r>
            <a:r>
              <a:rPr dirty="0" sz="2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Additional</a:t>
            </a:r>
            <a:r>
              <a:rPr dirty="0" sz="2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 spc="-10">
                <a:solidFill>
                  <a:srgbClr val="CFD0D8"/>
                </a:solidFill>
                <a:latin typeface="Roboto"/>
                <a:cs typeface="Roboto"/>
              </a:rPr>
              <a:t>arrays</a:t>
            </a:r>
            <a:r>
              <a:rPr dirty="0" sz="2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(d[],</a:t>
            </a:r>
            <a:r>
              <a:rPr dirty="0" sz="2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p[],</a:t>
            </a:r>
            <a:r>
              <a:rPr dirty="0" sz="2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 spc="-10">
                <a:solidFill>
                  <a:srgbClr val="CFD0D8"/>
                </a:solidFill>
                <a:latin typeface="Roboto"/>
                <a:cs typeface="Roboto"/>
              </a:rPr>
              <a:t>visited[]) </a:t>
            </a:r>
            <a:r>
              <a:rPr dirty="0" sz="2800">
                <a:solidFill>
                  <a:srgbClr val="CFD0D8"/>
                </a:solidFill>
                <a:latin typeface="Roboto"/>
                <a:cs typeface="Roboto"/>
              </a:rPr>
              <a:t>are</a:t>
            </a:r>
            <a:r>
              <a:rPr dirty="0" sz="280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800" spc="-20">
                <a:solidFill>
                  <a:srgbClr val="CFD0D8"/>
                </a:solidFill>
                <a:latin typeface="Roboto"/>
                <a:cs typeface="Roboto"/>
              </a:rPr>
              <a:t>O(V).</a:t>
            </a:r>
            <a:endParaRPr sz="28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6258" y="7603645"/>
            <a:ext cx="16430625" cy="1825625"/>
            <a:chOff x="926258" y="7603645"/>
            <a:chExt cx="16430625" cy="1825625"/>
          </a:xfrm>
        </p:grpSpPr>
        <p:sp>
          <p:nvSpPr>
            <p:cNvPr id="5" name="object 5"/>
            <p:cNvSpPr/>
            <p:nvPr/>
          </p:nvSpPr>
          <p:spPr>
            <a:xfrm>
              <a:off x="964387" y="7641774"/>
              <a:ext cx="16352519" cy="1749425"/>
            </a:xfrm>
            <a:custGeom>
              <a:avLst/>
              <a:gdLst/>
              <a:ahLst/>
              <a:cxnLst/>
              <a:rect l="l" t="t" r="r" b="b"/>
              <a:pathLst>
                <a:path w="16352519" h="1749425">
                  <a:moveTo>
                    <a:pt x="16232122" y="1749351"/>
                  </a:moveTo>
                  <a:lnTo>
                    <a:pt x="121824" y="1749351"/>
                  </a:lnTo>
                  <a:lnTo>
                    <a:pt x="74420" y="1739782"/>
                  </a:lnTo>
                  <a:lnTo>
                    <a:pt x="35694" y="1713666"/>
                  </a:lnTo>
                  <a:lnTo>
                    <a:pt x="9578" y="1674941"/>
                  </a:lnTo>
                  <a:lnTo>
                    <a:pt x="0" y="1627536"/>
                  </a:lnTo>
                  <a:lnTo>
                    <a:pt x="0" y="121824"/>
                  </a:lnTo>
                  <a:lnTo>
                    <a:pt x="9578" y="74420"/>
                  </a:lnTo>
                  <a:lnTo>
                    <a:pt x="35694" y="35695"/>
                  </a:lnTo>
                  <a:lnTo>
                    <a:pt x="74420" y="9578"/>
                  </a:lnTo>
                  <a:lnTo>
                    <a:pt x="121824" y="0"/>
                  </a:lnTo>
                  <a:lnTo>
                    <a:pt x="16232122" y="0"/>
                  </a:lnTo>
                  <a:lnTo>
                    <a:pt x="16279527" y="9578"/>
                  </a:lnTo>
                  <a:lnTo>
                    <a:pt x="16318252" y="35695"/>
                  </a:lnTo>
                  <a:lnTo>
                    <a:pt x="16344369" y="74420"/>
                  </a:lnTo>
                  <a:lnTo>
                    <a:pt x="16352339" y="113862"/>
                  </a:lnTo>
                  <a:lnTo>
                    <a:pt x="16352339" y="1635498"/>
                  </a:lnTo>
                  <a:lnTo>
                    <a:pt x="16344369" y="1674941"/>
                  </a:lnTo>
                  <a:lnTo>
                    <a:pt x="16318252" y="1713666"/>
                  </a:lnTo>
                  <a:lnTo>
                    <a:pt x="16279527" y="1739782"/>
                  </a:lnTo>
                  <a:lnTo>
                    <a:pt x="16232122" y="1749351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64387" y="7641774"/>
              <a:ext cx="16354425" cy="1749425"/>
            </a:xfrm>
            <a:custGeom>
              <a:avLst/>
              <a:gdLst/>
              <a:ahLst/>
              <a:cxnLst/>
              <a:rect l="l" t="t" r="r" b="b"/>
              <a:pathLst>
                <a:path w="16354425" h="1749425">
                  <a:moveTo>
                    <a:pt x="4" y="121800"/>
                  </a:moveTo>
                  <a:lnTo>
                    <a:pt x="9692" y="74418"/>
                  </a:lnTo>
                  <a:lnTo>
                    <a:pt x="35808" y="35694"/>
                  </a:lnTo>
                  <a:lnTo>
                    <a:pt x="74532" y="9578"/>
                  </a:lnTo>
                  <a:lnTo>
                    <a:pt x="121936" y="0"/>
                  </a:lnTo>
                  <a:lnTo>
                    <a:pt x="16231993" y="0"/>
                  </a:lnTo>
                  <a:lnTo>
                    <a:pt x="16279396" y="9578"/>
                  </a:lnTo>
                  <a:lnTo>
                    <a:pt x="16318121" y="35694"/>
                  </a:lnTo>
                  <a:lnTo>
                    <a:pt x="16344236" y="74418"/>
                  </a:lnTo>
                  <a:lnTo>
                    <a:pt x="16353814" y="121822"/>
                  </a:lnTo>
                  <a:lnTo>
                    <a:pt x="16353814" y="1627511"/>
                  </a:lnTo>
                  <a:lnTo>
                    <a:pt x="16344237" y="1674915"/>
                  </a:lnTo>
                  <a:lnTo>
                    <a:pt x="16318121" y="1713640"/>
                  </a:lnTo>
                  <a:lnTo>
                    <a:pt x="16279397" y="1739757"/>
                  </a:lnTo>
                  <a:lnTo>
                    <a:pt x="16231993" y="1749335"/>
                  </a:lnTo>
                  <a:lnTo>
                    <a:pt x="121936" y="1749335"/>
                  </a:lnTo>
                  <a:lnTo>
                    <a:pt x="74532" y="1739756"/>
                  </a:lnTo>
                  <a:lnTo>
                    <a:pt x="35807" y="1713640"/>
                  </a:lnTo>
                  <a:lnTo>
                    <a:pt x="9691" y="1674916"/>
                  </a:lnTo>
                  <a:lnTo>
                    <a:pt x="0" y="1627511"/>
                  </a:lnTo>
                  <a:lnTo>
                    <a:pt x="4" y="121800"/>
                  </a:lnTo>
                </a:path>
              </a:pathLst>
            </a:custGeom>
            <a:ln w="76256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271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/>
              <a:t>Time</a:t>
            </a:r>
            <a:r>
              <a:rPr dirty="0" spc="15"/>
              <a:t> </a:t>
            </a:r>
            <a:r>
              <a:rPr dirty="0" spc="-10"/>
              <a:t>Complexity</a:t>
            </a:r>
          </a:p>
          <a:p>
            <a:pPr marL="12700" marR="5080">
              <a:lnSpc>
                <a:spcPct val="133900"/>
              </a:lnSpc>
              <a:spcBef>
                <a:spcPts val="560"/>
              </a:spcBef>
            </a:pPr>
            <a:r>
              <a:rPr dirty="0" sz="2800" spc="-10">
                <a:solidFill>
                  <a:srgbClr val="CFD0D8"/>
                </a:solidFill>
              </a:rPr>
              <a:t>Using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an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adjacency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matrix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and</a:t>
            </a:r>
            <a:r>
              <a:rPr dirty="0" sz="2800" spc="-9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linear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scan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 spc="-25">
                <a:solidFill>
                  <a:srgbClr val="CFD0D8"/>
                </a:solidFill>
              </a:rPr>
              <a:t>to </a:t>
            </a:r>
            <a:r>
              <a:rPr dirty="0" sz="2800">
                <a:solidFill>
                  <a:srgbClr val="CFD0D8"/>
                </a:solidFill>
              </a:rPr>
              <a:t>select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the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minimum</a:t>
            </a:r>
            <a:r>
              <a:rPr dirty="0" sz="2800" spc="-95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unvisited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vertex</a:t>
            </a:r>
            <a:r>
              <a:rPr dirty="0" sz="2800" spc="-9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yields</a:t>
            </a:r>
            <a:r>
              <a:rPr dirty="0" sz="2800" spc="-100">
                <a:solidFill>
                  <a:srgbClr val="CFD0D8"/>
                </a:solidFill>
              </a:rPr>
              <a:t> </a:t>
            </a:r>
            <a:r>
              <a:rPr dirty="0" sz="2800" spc="-10">
                <a:solidFill>
                  <a:srgbClr val="CFD0D8"/>
                </a:solidFill>
              </a:rPr>
              <a:t>O(V²) </a:t>
            </a:r>
            <a:r>
              <a:rPr dirty="0" sz="2800">
                <a:solidFill>
                  <a:srgbClr val="CFD0D8"/>
                </a:solidFill>
              </a:rPr>
              <a:t>time.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For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V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=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7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(this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project):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runtime</a:t>
            </a:r>
            <a:r>
              <a:rPr dirty="0" sz="2800" spc="-6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is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small,</a:t>
            </a:r>
            <a:r>
              <a:rPr dirty="0" sz="2800" spc="-55">
                <a:solidFill>
                  <a:srgbClr val="CFD0D8"/>
                </a:solidFill>
              </a:rPr>
              <a:t> </a:t>
            </a:r>
            <a:r>
              <a:rPr dirty="0" sz="2800" spc="-25">
                <a:solidFill>
                  <a:srgbClr val="CFD0D8"/>
                </a:solidFill>
              </a:rPr>
              <a:t>but </a:t>
            </a:r>
            <a:r>
              <a:rPr dirty="0" sz="2800">
                <a:solidFill>
                  <a:srgbClr val="CFD0D8"/>
                </a:solidFill>
              </a:rPr>
              <a:t>scales</a:t>
            </a:r>
            <a:r>
              <a:rPr dirty="0" sz="2800" spc="-95">
                <a:solidFill>
                  <a:srgbClr val="CFD0D8"/>
                </a:solidFill>
              </a:rPr>
              <a:t> </a:t>
            </a:r>
            <a:r>
              <a:rPr dirty="0" sz="2800" spc="-20">
                <a:solidFill>
                  <a:srgbClr val="CFD0D8"/>
                </a:solidFill>
              </a:rPr>
              <a:t>quadratically</a:t>
            </a:r>
            <a:r>
              <a:rPr dirty="0" sz="2800" spc="-90">
                <a:solidFill>
                  <a:srgbClr val="CFD0D8"/>
                </a:solidFill>
              </a:rPr>
              <a:t> </a:t>
            </a:r>
            <a:r>
              <a:rPr dirty="0" sz="2800">
                <a:solidFill>
                  <a:srgbClr val="CFD0D8"/>
                </a:solidFill>
              </a:rPr>
              <a:t>with</a:t>
            </a:r>
            <a:r>
              <a:rPr dirty="0" sz="2800" spc="-90">
                <a:solidFill>
                  <a:srgbClr val="CFD0D8"/>
                </a:solidFill>
              </a:rPr>
              <a:t> </a:t>
            </a:r>
            <a:r>
              <a:rPr dirty="0" sz="2800" spc="-25">
                <a:solidFill>
                  <a:srgbClr val="CFD0D8"/>
                </a:solidFill>
              </a:rPr>
              <a:t>V.</a:t>
            </a:r>
            <a:endParaRPr sz="2800"/>
          </a:p>
          <a:p>
            <a:pPr>
              <a:lnSpc>
                <a:spcPct val="100000"/>
              </a:lnSpc>
            </a:pPr>
            <a:endParaRPr sz="2800"/>
          </a:p>
          <a:p>
            <a:pPr>
              <a:lnSpc>
                <a:spcPct val="100000"/>
              </a:lnSpc>
              <a:spcBef>
                <a:spcPts val="3030"/>
              </a:spcBef>
            </a:pPr>
            <a:endParaRPr sz="2800"/>
          </a:p>
          <a:p>
            <a:pPr marL="377825">
              <a:lnSpc>
                <a:spcPct val="100000"/>
              </a:lnSpc>
            </a:pPr>
            <a:r>
              <a:rPr dirty="0" sz="3250" spc="-10">
                <a:solidFill>
                  <a:srgbClr val="CFD0D8"/>
                </a:solidFill>
              </a:rPr>
              <a:t>Summary</a:t>
            </a:r>
            <a:endParaRPr sz="3250"/>
          </a:p>
          <a:p>
            <a:pPr marL="334010">
              <a:lnSpc>
                <a:spcPct val="100000"/>
              </a:lnSpc>
              <a:spcBef>
                <a:spcPts val="1425"/>
              </a:spcBef>
            </a:pPr>
            <a:r>
              <a:rPr dirty="0" sz="2850">
                <a:solidFill>
                  <a:srgbClr val="CFD0D8"/>
                </a:solidFill>
              </a:rPr>
              <a:t>Time</a:t>
            </a:r>
            <a:r>
              <a:rPr dirty="0" sz="2850" spc="-35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=</a:t>
            </a:r>
            <a:r>
              <a:rPr dirty="0" sz="2850" spc="-30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O(V²)</a:t>
            </a:r>
            <a:r>
              <a:rPr dirty="0" sz="2850" spc="-30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•</a:t>
            </a:r>
            <a:r>
              <a:rPr dirty="0" sz="2850" spc="-30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Space</a:t>
            </a:r>
            <a:r>
              <a:rPr dirty="0" sz="2850" spc="-35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=</a:t>
            </a:r>
            <a:r>
              <a:rPr dirty="0" sz="2850" spc="-30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O(V²)</a:t>
            </a:r>
            <a:r>
              <a:rPr dirty="0" sz="2850" spc="-30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(with</a:t>
            </a:r>
            <a:r>
              <a:rPr dirty="0" sz="2850" spc="-30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V</a:t>
            </a:r>
            <a:r>
              <a:rPr dirty="0" sz="2850" spc="-35">
                <a:solidFill>
                  <a:srgbClr val="CFD0D8"/>
                </a:solidFill>
              </a:rPr>
              <a:t> </a:t>
            </a:r>
            <a:r>
              <a:rPr dirty="0" sz="2850">
                <a:solidFill>
                  <a:srgbClr val="CFD0D8"/>
                </a:solidFill>
              </a:rPr>
              <a:t>=</a:t>
            </a:r>
            <a:r>
              <a:rPr dirty="0" sz="2850" spc="-30">
                <a:solidFill>
                  <a:srgbClr val="CFD0D8"/>
                </a:solidFill>
              </a:rPr>
              <a:t> </a:t>
            </a:r>
            <a:r>
              <a:rPr dirty="0" sz="2850" spc="-25">
                <a:solidFill>
                  <a:srgbClr val="CFD0D8"/>
                </a:solidFill>
              </a:rPr>
              <a:t>7)</a:t>
            </a:r>
            <a:endParaRPr sz="2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973" y="0"/>
            <a:ext cx="17951450" cy="10287000"/>
          </a:xfrm>
          <a:custGeom>
            <a:avLst/>
            <a:gdLst/>
            <a:ahLst/>
            <a:cxnLst/>
            <a:rect l="l" t="t" r="r" b="b"/>
            <a:pathLst>
              <a:path w="17951450" h="10287000">
                <a:moveTo>
                  <a:pt x="1795102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7951026" y="0"/>
                </a:lnTo>
                <a:lnTo>
                  <a:pt x="17951026" y="10287000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314413" y="799370"/>
            <a:ext cx="5009515" cy="734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50" spc="-175"/>
              <a:t>Re</a:t>
            </a:r>
            <a:r>
              <a:rPr dirty="0" sz="4650" spc="-944"/>
              <a:t> </a:t>
            </a:r>
            <a:r>
              <a:rPr dirty="0" sz="4650" spc="110"/>
              <a:t>Sult</a:t>
            </a:r>
            <a:r>
              <a:rPr dirty="0" sz="4650" spc="-944"/>
              <a:t> </a:t>
            </a:r>
            <a:r>
              <a:rPr dirty="0" sz="4650"/>
              <a:t>S</a:t>
            </a:r>
            <a:r>
              <a:rPr dirty="0" sz="4650" spc="595"/>
              <a:t> </a:t>
            </a:r>
            <a:r>
              <a:rPr dirty="0" sz="4650" spc="-955"/>
              <a:t>&amp;</a:t>
            </a:r>
            <a:r>
              <a:rPr dirty="0" sz="4650" spc="605"/>
              <a:t> </a:t>
            </a:r>
            <a:r>
              <a:rPr dirty="0" sz="4650" spc="-345"/>
              <a:t>Te</a:t>
            </a:r>
            <a:r>
              <a:rPr dirty="0" sz="4650" spc="-950"/>
              <a:t> </a:t>
            </a:r>
            <a:r>
              <a:rPr dirty="0" sz="4650" spc="175"/>
              <a:t>Sting</a:t>
            </a:r>
            <a:endParaRPr sz="4650"/>
          </a:p>
        </p:txBody>
      </p:sp>
      <p:sp>
        <p:nvSpPr>
          <p:cNvPr id="3" name="object 3"/>
          <p:cNvSpPr/>
          <p:nvPr/>
        </p:nvSpPr>
        <p:spPr>
          <a:xfrm>
            <a:off x="511606" y="5205577"/>
            <a:ext cx="9950450" cy="4119879"/>
          </a:xfrm>
          <a:custGeom>
            <a:avLst/>
            <a:gdLst/>
            <a:ahLst/>
            <a:cxnLst/>
            <a:rect l="l" t="t" r="r" b="b"/>
            <a:pathLst>
              <a:path w="9950450" h="4119879">
                <a:moveTo>
                  <a:pt x="9949980" y="0"/>
                </a:moveTo>
                <a:lnTo>
                  <a:pt x="4977371" y="0"/>
                </a:lnTo>
                <a:lnTo>
                  <a:pt x="4972609" y="0"/>
                </a:lnTo>
                <a:lnTo>
                  <a:pt x="0" y="0"/>
                </a:lnTo>
                <a:lnTo>
                  <a:pt x="0" y="4119562"/>
                </a:lnTo>
                <a:lnTo>
                  <a:pt x="4972609" y="4119562"/>
                </a:lnTo>
                <a:lnTo>
                  <a:pt x="4977371" y="4119562"/>
                </a:lnTo>
                <a:lnTo>
                  <a:pt x="9949980" y="4119562"/>
                </a:lnTo>
                <a:lnTo>
                  <a:pt x="99499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0687" y="5366605"/>
            <a:ext cx="105664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Test 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case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3297" y="5366605"/>
            <a:ext cx="68834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Result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687" y="6052405"/>
            <a:ext cx="198818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Airport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600" spc="480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1600" spc="-15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Hospital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3297" y="6052405"/>
            <a:ext cx="143954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9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km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18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PASS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0687" y="6738205"/>
            <a:ext cx="1983739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Airport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600" spc="480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1600" spc="-15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Stadium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33297" y="6738205"/>
            <a:ext cx="157353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12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km</a:t>
            </a:r>
            <a:r>
              <a:rPr dirty="0" sz="18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18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PASS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0687" y="7424005"/>
            <a:ext cx="2018664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Airport</a:t>
            </a:r>
            <a:r>
              <a:rPr dirty="0" sz="18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600" spc="480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1600" spc="-15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City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Mall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3297" y="7424005"/>
            <a:ext cx="143954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4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km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18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PASS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0687" y="8109805"/>
            <a:ext cx="1824989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Airport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600" spc="480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1600" spc="-15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Airport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3297" y="8109805"/>
            <a:ext cx="143954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0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km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18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PASS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687" y="8795605"/>
            <a:ext cx="162623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Invalid</a:t>
            </a:r>
            <a:r>
              <a:rPr dirty="0" sz="18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location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3297" y="8795605"/>
            <a:ext cx="186690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Detected</a:t>
            </a:r>
            <a:r>
              <a:rPr dirty="0" sz="18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PASS</a:t>
            </a:r>
            <a:endParaRPr sz="18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21590" y="1568838"/>
            <a:ext cx="16680180" cy="8198484"/>
            <a:chOff x="1221590" y="1568838"/>
            <a:chExt cx="16680180" cy="8198484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3793" y="1568838"/>
              <a:ext cx="8197927" cy="81979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1590" y="2536384"/>
              <a:ext cx="104775" cy="1047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1590" y="3050734"/>
              <a:ext cx="104775" cy="10477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1590" y="3565084"/>
              <a:ext cx="104775" cy="1047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1590" y="4079434"/>
              <a:ext cx="104775" cy="10477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01292" y="1660578"/>
            <a:ext cx="8191500" cy="353187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491490">
              <a:lnSpc>
                <a:spcPct val="100000"/>
              </a:lnSpc>
              <a:spcBef>
                <a:spcPts val="915"/>
              </a:spcBef>
            </a:pPr>
            <a:r>
              <a:rPr dirty="0" sz="3150" b="1">
                <a:solidFill>
                  <a:srgbClr val="CFD0D8"/>
                </a:solidFill>
                <a:latin typeface="Roboto"/>
                <a:cs typeface="Roboto"/>
              </a:rPr>
              <a:t>Sample</a:t>
            </a:r>
            <a:r>
              <a:rPr dirty="0" sz="3150" spc="45" b="1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3150" spc="-25" b="1">
                <a:solidFill>
                  <a:srgbClr val="CFD0D8"/>
                </a:solidFill>
                <a:latin typeface="Roboto"/>
                <a:cs typeface="Roboto"/>
              </a:rPr>
              <a:t>Run</a:t>
            </a:r>
            <a:endParaRPr sz="3150">
              <a:latin typeface="Roboto"/>
              <a:cs typeface="Roboto"/>
            </a:endParaRPr>
          </a:p>
          <a:p>
            <a:pPr marL="994410" marR="3924300">
              <a:lnSpc>
                <a:spcPts val="4050"/>
              </a:lnSpc>
              <a:spcBef>
                <a:spcPts val="235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Source:</a:t>
            </a:r>
            <a:r>
              <a:rPr dirty="0" sz="2750" spc="-1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Airport Destination:</a:t>
            </a:r>
            <a:r>
              <a:rPr dirty="0" sz="2750" spc="-1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Hospital</a:t>
            </a:r>
            <a:endParaRPr sz="2750">
              <a:latin typeface="Roboto"/>
              <a:cs typeface="Roboto"/>
            </a:endParaRPr>
          </a:p>
          <a:p>
            <a:pPr marL="994410" marR="5080">
              <a:lnSpc>
                <a:spcPts val="4050"/>
              </a:lnSpc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Shortest</a:t>
            </a:r>
            <a:r>
              <a:rPr dirty="0" sz="2750" spc="-1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route:</a:t>
            </a:r>
            <a:r>
              <a:rPr dirty="0" sz="27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Airport</a:t>
            </a:r>
            <a:r>
              <a:rPr dirty="0" sz="27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00" spc="650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2400" spc="-23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City</a:t>
            </a:r>
            <a:r>
              <a:rPr dirty="0" sz="27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Mall</a:t>
            </a:r>
            <a:r>
              <a:rPr dirty="0" sz="27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400" spc="650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dirty="0" sz="2400" spc="-235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Hospital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Total</a:t>
            </a:r>
            <a:r>
              <a:rPr dirty="0" sz="27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distance:</a:t>
            </a:r>
            <a:r>
              <a:rPr dirty="0" sz="27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9</a:t>
            </a:r>
            <a:r>
              <a:rPr dirty="0" sz="27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5">
                <a:solidFill>
                  <a:srgbClr val="CFD0D8"/>
                </a:solidFill>
                <a:latin typeface="Roboto"/>
                <a:cs typeface="Roboto"/>
              </a:rPr>
              <a:t>km</a:t>
            </a:r>
            <a:endParaRPr sz="27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975"/>
              </a:spcBef>
            </a:pPr>
            <a:r>
              <a:rPr dirty="0" sz="3000">
                <a:solidFill>
                  <a:srgbClr val="FFFFFF"/>
                </a:solidFill>
                <a:latin typeface="Roboto"/>
                <a:cs typeface="Roboto"/>
              </a:rPr>
              <a:t>Test</a:t>
            </a:r>
            <a:r>
              <a:rPr dirty="0" sz="30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000">
                <a:solidFill>
                  <a:srgbClr val="FFFFFF"/>
                </a:solidFill>
                <a:latin typeface="Roboto"/>
                <a:cs typeface="Roboto"/>
              </a:rPr>
              <a:t>Cases</a:t>
            </a:r>
            <a:r>
              <a:rPr dirty="0" sz="30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Roboto"/>
                <a:cs typeface="Roboto"/>
              </a:rPr>
              <a:t>(summary)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0624" y="9531856"/>
            <a:ext cx="449326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Overall:</a:t>
            </a:r>
            <a:r>
              <a:rPr dirty="0" sz="25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5/5</a:t>
            </a:r>
            <a:r>
              <a:rPr dirty="0" sz="25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test</a:t>
            </a:r>
            <a:r>
              <a:rPr dirty="0" sz="25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cases</a:t>
            </a:r>
            <a:r>
              <a:rPr dirty="0" sz="25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passed.</a:t>
            </a:r>
            <a:endParaRPr sz="25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2696" y="0"/>
            <a:ext cx="17955895" cy="10287000"/>
          </a:xfrm>
          <a:custGeom>
            <a:avLst/>
            <a:gdLst/>
            <a:ahLst/>
            <a:cxnLst/>
            <a:rect l="l" t="t" r="r" b="b"/>
            <a:pathLst>
              <a:path w="17955895" h="10287000">
                <a:moveTo>
                  <a:pt x="17955303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7955303" y="0"/>
                </a:lnTo>
                <a:lnTo>
                  <a:pt x="17955303" y="10287000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80290" y="765272"/>
            <a:ext cx="7816215" cy="711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565"/>
              <a:t>C</a:t>
            </a:r>
            <a:r>
              <a:rPr dirty="0" sz="4500" spc="-790"/>
              <a:t> </a:t>
            </a:r>
            <a:r>
              <a:rPr dirty="0" sz="4500" spc="-200"/>
              <a:t>o</a:t>
            </a:r>
            <a:r>
              <a:rPr dirty="0" sz="4500" spc="-790"/>
              <a:t> </a:t>
            </a:r>
            <a:r>
              <a:rPr dirty="0" sz="4500" spc="-229"/>
              <a:t>n</a:t>
            </a:r>
            <a:r>
              <a:rPr dirty="0" sz="4500" spc="-790"/>
              <a:t> </a:t>
            </a:r>
            <a:r>
              <a:rPr dirty="0" sz="4500" spc="-30"/>
              <a:t>c</a:t>
            </a:r>
            <a:r>
              <a:rPr dirty="0" sz="4500" spc="-790"/>
              <a:t> </a:t>
            </a:r>
            <a:r>
              <a:rPr dirty="0" sz="4500" spc="-220"/>
              <a:t>l</a:t>
            </a:r>
            <a:r>
              <a:rPr dirty="0" sz="4500" spc="-790"/>
              <a:t> </a:t>
            </a:r>
            <a:r>
              <a:rPr dirty="0" sz="4500" spc="-229"/>
              <a:t>u</a:t>
            </a:r>
            <a:r>
              <a:rPr dirty="0" sz="4500" spc="-790"/>
              <a:t> </a:t>
            </a:r>
            <a:r>
              <a:rPr dirty="0" sz="4500" spc="615"/>
              <a:t>s</a:t>
            </a:r>
            <a:r>
              <a:rPr dirty="0" sz="4500" spc="50"/>
              <a:t>i</a:t>
            </a:r>
            <a:r>
              <a:rPr dirty="0" sz="4500" spc="-790"/>
              <a:t> </a:t>
            </a:r>
            <a:r>
              <a:rPr dirty="0" sz="4500" spc="-200"/>
              <a:t>o</a:t>
            </a:r>
            <a:r>
              <a:rPr dirty="0" sz="4500" spc="-790"/>
              <a:t> </a:t>
            </a:r>
            <a:r>
              <a:rPr dirty="0" sz="4500"/>
              <a:t>n</a:t>
            </a:r>
            <a:r>
              <a:rPr dirty="0" sz="4500" spc="735"/>
              <a:t> </a:t>
            </a:r>
            <a:r>
              <a:rPr dirty="0" sz="4500" spc="-925"/>
              <a:t>&amp;</a:t>
            </a:r>
            <a:r>
              <a:rPr dirty="0" sz="4500" spc="810"/>
              <a:t> </a:t>
            </a:r>
            <a:r>
              <a:rPr dirty="0" sz="4500" spc="-570"/>
              <a:t>F</a:t>
            </a:r>
            <a:r>
              <a:rPr dirty="0" sz="4500" spc="-790"/>
              <a:t> </a:t>
            </a:r>
            <a:r>
              <a:rPr dirty="0" sz="4500" spc="-229"/>
              <a:t>u</a:t>
            </a:r>
            <a:r>
              <a:rPr dirty="0" sz="4500" spc="-790"/>
              <a:t> </a:t>
            </a:r>
            <a:r>
              <a:rPr dirty="0" sz="4500" spc="-430"/>
              <a:t>t</a:t>
            </a:r>
            <a:r>
              <a:rPr dirty="0" sz="4500" spc="-790"/>
              <a:t> </a:t>
            </a:r>
            <a:r>
              <a:rPr dirty="0" sz="4500" spc="-229"/>
              <a:t>u</a:t>
            </a:r>
            <a:r>
              <a:rPr dirty="0" sz="4500" spc="-790"/>
              <a:t> </a:t>
            </a:r>
            <a:r>
              <a:rPr dirty="0" sz="4500" spc="-210"/>
              <a:t>r</a:t>
            </a:r>
            <a:r>
              <a:rPr dirty="0" sz="4500" spc="-790"/>
              <a:t> </a:t>
            </a:r>
            <a:r>
              <a:rPr dirty="0" sz="4500" spc="-270"/>
              <a:t>e</a:t>
            </a:r>
            <a:r>
              <a:rPr dirty="0" sz="4500" spc="810"/>
              <a:t> </a:t>
            </a:r>
            <a:r>
              <a:rPr dirty="0" sz="4500" spc="-114"/>
              <a:t>S</a:t>
            </a:r>
            <a:r>
              <a:rPr dirty="0" sz="4500" spc="-790"/>
              <a:t> </a:t>
            </a:r>
            <a:r>
              <a:rPr dirty="0" sz="4500" spc="-30"/>
              <a:t>c</a:t>
            </a:r>
            <a:r>
              <a:rPr dirty="0" sz="4500" spc="-790"/>
              <a:t> </a:t>
            </a:r>
            <a:r>
              <a:rPr dirty="0" sz="4500" spc="-200"/>
              <a:t>o</a:t>
            </a:r>
            <a:r>
              <a:rPr dirty="0" sz="4500" spc="-790"/>
              <a:t> </a:t>
            </a:r>
            <a:r>
              <a:rPr dirty="0" sz="4500" spc="-280"/>
              <a:t>p</a:t>
            </a:r>
            <a:r>
              <a:rPr dirty="0" sz="4500" spc="-790"/>
              <a:t> </a:t>
            </a:r>
            <a:r>
              <a:rPr dirty="0" sz="4500" spc="-320"/>
              <a:t>e</a:t>
            </a:r>
            <a:endParaRPr sz="45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442" y="2604016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442" y="3594616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442" y="5080516"/>
            <a:ext cx="104775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80290" y="1920059"/>
            <a:ext cx="7428230" cy="3899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10">
                <a:solidFill>
                  <a:srgbClr val="FFFFFF"/>
                </a:solidFill>
                <a:latin typeface="Roboto"/>
                <a:cs typeface="Roboto"/>
              </a:rPr>
              <a:t>Conclusion</a:t>
            </a:r>
            <a:endParaRPr sz="3150">
              <a:latin typeface="Roboto"/>
              <a:cs typeface="Roboto"/>
            </a:endParaRPr>
          </a:p>
          <a:p>
            <a:pPr marL="35560">
              <a:lnSpc>
                <a:spcPct val="100000"/>
              </a:lnSpc>
              <a:spcBef>
                <a:spcPts val="80"/>
              </a:spcBef>
            </a:pP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Implemented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30">
                <a:solidFill>
                  <a:srgbClr val="CFD0D8"/>
                </a:solidFill>
                <a:latin typeface="Roboto"/>
                <a:cs typeface="Roboto"/>
              </a:rPr>
              <a:t>menu-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driven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30">
                <a:solidFill>
                  <a:srgbClr val="CFD0D8"/>
                </a:solidFill>
                <a:latin typeface="Roboto"/>
                <a:cs typeface="Roboto"/>
              </a:rPr>
              <a:t>navigation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system</a:t>
            </a:r>
            <a:endParaRPr sz="2700">
              <a:latin typeface="Roboto"/>
              <a:cs typeface="Roboto"/>
            </a:endParaRPr>
          </a:p>
          <a:p>
            <a:pPr marL="35560">
              <a:lnSpc>
                <a:spcPct val="100000"/>
              </a:lnSpc>
              <a:spcBef>
                <a:spcPts val="660"/>
              </a:spcBef>
            </a:pP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using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an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5">
                <a:solidFill>
                  <a:srgbClr val="CFD0D8"/>
                </a:solidFill>
                <a:latin typeface="Roboto"/>
                <a:cs typeface="Roboto"/>
              </a:rPr>
              <a:t>adjacency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matrix.</a:t>
            </a:r>
            <a:endParaRPr sz="2700">
              <a:latin typeface="Roboto"/>
              <a:cs typeface="Roboto"/>
            </a:endParaRPr>
          </a:p>
          <a:p>
            <a:pPr marL="35560" marR="5080">
              <a:lnSpc>
                <a:spcPct val="120400"/>
              </a:lnSpc>
            </a:pP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Applied</a:t>
            </a:r>
            <a:r>
              <a:rPr dirty="0" sz="270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40">
                <a:solidFill>
                  <a:srgbClr val="CFD0D8"/>
                </a:solidFill>
                <a:latin typeface="Roboto"/>
                <a:cs typeface="Roboto"/>
              </a:rPr>
              <a:t>Dijkstra's</a:t>
            </a:r>
            <a:r>
              <a:rPr dirty="0" sz="270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Algorithm</a:t>
            </a:r>
            <a:r>
              <a:rPr dirty="0" sz="270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70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compute</a:t>
            </a:r>
            <a:r>
              <a:rPr dirty="0" sz="270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shortest 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paths</a:t>
            </a:r>
            <a:r>
              <a:rPr dirty="0" sz="270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used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parent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5">
                <a:solidFill>
                  <a:srgbClr val="CFD0D8"/>
                </a:solidFill>
                <a:latin typeface="Roboto"/>
                <a:cs typeface="Roboto"/>
              </a:rPr>
              <a:t>array</a:t>
            </a:r>
            <a:r>
              <a:rPr dirty="0" sz="270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route reconstruction.</a:t>
            </a:r>
            <a:endParaRPr sz="2700">
              <a:latin typeface="Roboto"/>
              <a:cs typeface="Roboto"/>
            </a:endParaRPr>
          </a:p>
          <a:p>
            <a:pPr marL="35560" marR="872490">
              <a:lnSpc>
                <a:spcPct val="120400"/>
              </a:lnSpc>
            </a:pP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All</a:t>
            </a:r>
            <a:r>
              <a:rPr dirty="0" sz="270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test</a:t>
            </a:r>
            <a:r>
              <a:rPr dirty="0" sz="270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cases</a:t>
            </a:r>
            <a:r>
              <a:rPr dirty="0" sz="270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passed</a:t>
            </a:r>
            <a:r>
              <a:rPr dirty="0" sz="270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7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edge</a:t>
            </a:r>
            <a:r>
              <a:rPr dirty="0" sz="270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conditions handled</a:t>
            </a:r>
            <a:r>
              <a:rPr dirty="0" sz="270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(invalid</a:t>
            </a:r>
            <a:r>
              <a:rPr dirty="0" sz="2700" spc="-114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input,</a:t>
            </a:r>
            <a:r>
              <a:rPr dirty="0" sz="270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5">
                <a:solidFill>
                  <a:srgbClr val="CFD0D8"/>
                </a:solidFill>
                <a:latin typeface="Roboto"/>
                <a:cs typeface="Roboto"/>
              </a:rPr>
              <a:t>unreachable</a:t>
            </a:r>
            <a:r>
              <a:rPr dirty="0" sz="2700" spc="-114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nodes).</a:t>
            </a:r>
            <a:endParaRPr sz="27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442" y="6823729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26302" y="2447219"/>
            <a:ext cx="9483582" cy="53721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442" y="7814329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442" y="8804929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03390" y="6139774"/>
            <a:ext cx="7325359" cy="3404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z="3150" spc="-10">
                <a:solidFill>
                  <a:srgbClr val="FFFFFF"/>
                </a:solidFill>
                <a:latin typeface="Roboto"/>
                <a:cs typeface="Roboto"/>
              </a:rPr>
              <a:t>Future</a:t>
            </a:r>
            <a:r>
              <a:rPr dirty="0" sz="3150" spc="-15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Roboto"/>
                <a:cs typeface="Roboto"/>
              </a:rPr>
              <a:t>Scope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Integrate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GPS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map</a:t>
            </a:r>
            <a:r>
              <a:rPr dirty="0" sz="27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APIs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27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20">
                <a:solidFill>
                  <a:srgbClr val="CFD0D8"/>
                </a:solidFill>
                <a:latin typeface="Roboto"/>
                <a:cs typeface="Roboto"/>
              </a:rPr>
              <a:t>real-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world</a:t>
            </a:r>
            <a:endParaRPr sz="2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coordinates</a:t>
            </a:r>
            <a:endParaRPr sz="2700">
              <a:latin typeface="Roboto"/>
              <a:cs typeface="Roboto"/>
            </a:endParaRPr>
          </a:p>
          <a:p>
            <a:pPr marL="12700" marR="5080">
              <a:lnSpc>
                <a:spcPct val="120400"/>
              </a:lnSpc>
            </a:pP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Incorporate</a:t>
            </a:r>
            <a:r>
              <a:rPr dirty="0" sz="270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20">
                <a:solidFill>
                  <a:srgbClr val="CFD0D8"/>
                </a:solidFill>
                <a:latin typeface="Roboto"/>
                <a:cs typeface="Roboto"/>
              </a:rPr>
              <a:t>real-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time</a:t>
            </a:r>
            <a:r>
              <a:rPr dirty="0" sz="27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traffic</a:t>
            </a:r>
            <a:r>
              <a:rPr dirty="0" sz="27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7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dynamic</a:t>
            </a:r>
            <a:r>
              <a:rPr dirty="0" sz="27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edge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weights</a:t>
            </a:r>
            <a:r>
              <a:rPr dirty="0" sz="270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(time-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dependent</a:t>
            </a:r>
            <a:r>
              <a:rPr dirty="0" sz="270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Dijkstra/variants)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Offer</a:t>
            </a:r>
            <a:r>
              <a:rPr dirty="0" sz="270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CFD0D8"/>
                </a:solidFill>
                <a:latin typeface="Roboto"/>
                <a:cs typeface="Roboto"/>
              </a:rPr>
              <a:t>multiple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route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5">
                <a:solidFill>
                  <a:srgbClr val="CFD0D8"/>
                </a:solidFill>
                <a:latin typeface="Roboto"/>
                <a:cs typeface="Roboto"/>
              </a:rPr>
              <a:t>suggestions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7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0">
                <a:solidFill>
                  <a:srgbClr val="CFD0D8"/>
                </a:solidFill>
                <a:latin typeface="Roboto"/>
                <a:cs typeface="Roboto"/>
              </a:rPr>
              <a:t>visual</a:t>
            </a:r>
            <a:r>
              <a:rPr dirty="0" sz="270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00" spc="-25">
                <a:solidFill>
                  <a:srgbClr val="CFD0D8"/>
                </a:solidFill>
                <a:latin typeface="Roboto"/>
                <a:cs typeface="Roboto"/>
              </a:rPr>
              <a:t>map UI</a:t>
            </a:r>
            <a:endParaRPr sz="27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32702" y="8859346"/>
            <a:ext cx="3378200" cy="368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Roboto"/>
                <a:cs typeface="Roboto"/>
              </a:rPr>
              <a:t>THANK</a:t>
            </a:r>
            <a:r>
              <a:rPr dirty="0" sz="225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250" spc="-20">
                <a:solidFill>
                  <a:srgbClr val="FFFFFF"/>
                </a:solidFill>
                <a:latin typeface="Roboto"/>
                <a:cs typeface="Roboto"/>
              </a:rPr>
              <a:t>YOU</a:t>
            </a:r>
            <a:r>
              <a:rPr dirty="0" sz="225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dirty="0" sz="225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Roboto"/>
                <a:cs typeface="Roboto"/>
              </a:rPr>
              <a:t>Questions?</a:t>
            </a:r>
            <a:endParaRPr sz="22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NIKITA SADANI</dc:creator>
  <cp:keywords>DAHWfZ-ZCbI,BAG6sGHVz90</cp:keywords>
  <dc:title>SMART-NAVIGATION-SYSTEM-Using-Dijkstras-Algorithm (1).pptx</dc:title>
  <dcterms:created xsi:type="dcterms:W3CDTF">2026-09-28T14:26:13Z</dcterms:created>
  <dcterms:modified xsi:type="dcterms:W3CDTF">2026-09-28T14:26:13Z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2026-09-28T00:00:00Z</vt:filetime>
  </property>
  <property fmtid="{D5CDD505-2E9C-101B-9397-08002B2CF9AE}" pid="6" name="Producer">
    <vt:lpwstr>Canva</vt:lpwstr>
  </property>
</Properties>
</file>